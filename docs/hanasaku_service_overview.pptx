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A2030"/>
        </a:solidFill>
        <a:effectLst/>
      </p:bgPr>
    </p:bg>
    <p:spTree>
      <p:nvGrpSpPr>
        <p:cNvPr id="1" name=""/>
        <p:cNvGrpSpPr/>
        <p:nvPr/>
      </p:nvGrpSpPr>
      <p:grpSpPr/>
      <p:sp>
        <p:nvSpPr>
          <p:cNvPr id="2" name="TextBox 1"/>
          <p:cNvSpPr txBox="1"/>
          <p:nvPr/>
        </p:nvSpPr>
        <p:spPr>
          <a:xfrm>
            <a:off x="731520" y="1371600"/>
            <a:ext cx="7680960" cy="1828800"/>
          </a:xfrm>
          <a:prstGeom prst="rect">
            <a:avLst/>
          </a:prstGeom>
          <a:noFill/>
        </p:spPr>
        <p:txBody>
          <a:bodyPr wrap="square">
            <a:spAutoFit/>
          </a:bodyPr>
          <a:lstStyle/>
          <a:p>
            <a:pPr algn="l">
              <a:defRPr sz="3200" b="1">
                <a:solidFill>
                  <a:srgbClr val="FFFFFF"/>
                </a:solidFill>
              </a:defRPr>
            </a:pPr>
            <a:r>
              <a:t>ハナサク</a:t>
            </a:r>
            <a:br/>
            <a:r>
              <a:t>サービス紹介資料</a:t>
            </a:r>
          </a:p>
          <a:p>
            <a:pPr algn="l">
              <a:defRPr sz="1600">
                <a:solidFill>
                  <a:srgbClr val="E8A0A8"/>
                </a:solidFill>
              </a:defRPr>
            </a:pPr>
            <a:r>
              <a:t>福井の女の子が、自分の言葉で未来を語れるようになる就活伴走サービス</a:t>
            </a:r>
            <a:br/>
            <a:br/>
            <a:r>
              <a:t>西川 舞衣子（EMKO）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square">
            <a:spAutoFit/>
          </a:bodyPr>
          <a:lstStyle/>
          <a:p>
            <a:pPr algn="l">
              <a:defRPr sz="2200" b="1">
                <a:solidFill>
                  <a:srgbClr val="5A2030"/>
                </a:solidFill>
              </a:defRPr>
            </a:pPr>
            <a:r>
              <a:t>  サービス概要</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600"/>
              </a:spcAft>
              <a:defRPr sz="1400">
                <a:solidFill>
                  <a:srgbClr val="333333"/>
                </a:solidFill>
              </a:defRPr>
            </a:pPr>
            <a:r>
              <a:t>「ハナサク」は、福井県の女子学生とその保護者を対象としたオンライン就活伴走コーチングです。</a:t>
            </a:r>
          </a:p>
          <a:p>
            <a:pPr>
              <a:spcAft>
                <a:spcPts val="600"/>
              </a:spcAft>
              <a:defRPr sz="1400">
                <a:solidFill>
                  <a:srgbClr val="333333"/>
                </a:solidFill>
              </a:defRPr>
            </a:pPr>
            <a:r>
              <a:t>就活塾でもエージェントでもない、あなたの「伴走者」として一貫してサポートします。</a:t>
            </a:r>
          </a:p>
          <a:p>
            <a:pPr>
              <a:spcAft>
                <a:spcPts val="600"/>
              </a:spcAft>
              <a:defRPr sz="1400">
                <a:solidFill>
                  <a:srgbClr val="333333"/>
                </a:solidFill>
              </a:defRPr>
            </a:pPr>
          </a:p>
          <a:p>
            <a:pPr>
              <a:spcAft>
                <a:spcPts val="600"/>
              </a:spcAft>
              <a:defRPr sz="1400" b="1">
                <a:solidFill>
                  <a:srgbClr val="5A2030"/>
                </a:solidFill>
              </a:defRPr>
            </a:pPr>
            <a:r>
              <a:t>◎ 就活伴走コーチング</a:t>
            </a:r>
          </a:p>
          <a:p>
            <a:pPr lvl="1">
              <a:spcAft>
                <a:spcPts val="600"/>
              </a:spcAft>
              <a:defRPr sz="1200">
                <a:solidFill>
                  <a:srgbClr val="333333"/>
                </a:solidFill>
              </a:defRPr>
            </a:pPr>
            <a:r>
              <a:t>対象: 女子学生 + 保護者</a:t>
            </a:r>
          </a:p>
          <a:p>
            <a:pPr lvl="1">
              <a:spcAft>
                <a:spcPts val="600"/>
              </a:spcAft>
              <a:defRPr sz="1200">
                <a:solidFill>
                  <a:srgbClr val="333333"/>
                </a:solidFill>
              </a:defRPr>
            </a:pPr>
            <a:r>
              <a:t>形式: オンライン面談（30分/回）</a:t>
            </a:r>
          </a:p>
          <a:p>
            <a:pPr lvl="1">
              <a:spcAft>
                <a:spcPts val="600"/>
              </a:spcAft>
              <a:defRPr sz="1200">
                <a:solidFill>
                  <a:srgbClr val="333333"/>
                </a:solidFill>
              </a:defRPr>
            </a:pPr>
            <a:r>
              <a:t>LINE質問対応・親御さんへの月次レポート</a:t>
            </a:r>
          </a:p>
          <a:p>
            <a:pPr>
              <a:spcAft>
                <a:spcPts val="600"/>
              </a:spcAft>
              <a:defRPr sz="1400">
                <a:solidFill>
                  <a:srgbClr val="333333"/>
                </a:solidFill>
              </a:defRPr>
            </a:pPr>
          </a:p>
          <a:p>
            <a:pPr>
              <a:spcAft>
                <a:spcPts val="600"/>
              </a:spcAft>
              <a:defRPr sz="1400" b="1">
                <a:solidFill>
                  <a:srgbClr val="5A2030"/>
                </a:solidFill>
              </a:defRPr>
            </a:pPr>
            <a:r>
              <a:t>◎ 女性リーダー向けメンタリング</a:t>
            </a:r>
          </a:p>
          <a:p>
            <a:pPr lvl="1">
              <a:spcAft>
                <a:spcPts val="600"/>
              </a:spcAft>
              <a:defRPr sz="1200">
                <a:solidFill>
                  <a:srgbClr val="333333"/>
                </a:solidFill>
              </a:defRPr>
            </a:pPr>
            <a:r>
              <a:t>対象: 管理職・リーダー候補の女性</a:t>
            </a:r>
          </a:p>
          <a:p>
            <a:pPr lvl="1">
              <a:spcAft>
                <a:spcPts val="600"/>
              </a:spcAft>
              <a:defRPr sz="1200">
                <a:solidFill>
                  <a:srgbClr val="333333"/>
                </a:solidFill>
              </a:defRPr>
            </a:pPr>
            <a:r>
              <a:t>形式: オンライン1on1（45分/回）</a:t>
            </a:r>
          </a:p>
          <a:p>
            <a:pPr lvl="1">
              <a:spcAft>
                <a:spcPts val="600"/>
              </a:spcAft>
              <a:defRPr sz="1200">
                <a:solidFill>
                  <a:srgbClr val="333333"/>
                </a:solidFill>
              </a:defRPr>
            </a:pPr>
            <a:r>
              <a:t>キャリア相談・壁打ち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square">
            <a:spAutoFit/>
          </a:bodyPr>
          <a:lstStyle/>
          <a:p>
            <a:pPr algn="l">
              <a:defRPr sz="2200" b="1">
                <a:solidFill>
                  <a:srgbClr val="5A2030"/>
                </a:solidFill>
              </a:defRPr>
            </a:pPr>
            <a:r>
              <a:t>  こんな悩み、ありませんか？</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600"/>
              </a:spcAft>
              <a:defRPr sz="1400" b="1">
                <a:solidFill>
                  <a:srgbClr val="5A2030"/>
                </a:solidFill>
              </a:defRPr>
            </a:pPr>
            <a:r>
              <a:t>◎ 学生さん</a:t>
            </a:r>
          </a:p>
          <a:p>
            <a:pPr lvl="1">
              <a:spcAft>
                <a:spcPts val="600"/>
              </a:spcAft>
              <a:defRPr sz="1200">
                <a:solidFill>
                  <a:srgbClr val="333333"/>
                </a:solidFill>
              </a:defRPr>
            </a:pPr>
            <a:r>
              <a:t>キャリアセンターの面談が表面的で、本当に知りたいことが聞けない</a:t>
            </a:r>
          </a:p>
          <a:p>
            <a:pPr lvl="1">
              <a:spcAft>
                <a:spcPts val="600"/>
              </a:spcAft>
              <a:defRPr sz="1200">
                <a:solidFill>
                  <a:srgbClr val="333333"/>
                </a:solidFill>
              </a:defRPr>
            </a:pPr>
            <a:r>
              <a:t>東京の就活塾は高すぎるし、地方から通えない</a:t>
            </a:r>
          </a:p>
          <a:p>
            <a:pPr lvl="1">
              <a:spcAft>
                <a:spcPts val="600"/>
              </a:spcAft>
              <a:defRPr sz="1200">
                <a:solidFill>
                  <a:srgbClr val="333333"/>
                </a:solidFill>
              </a:defRPr>
            </a:pPr>
            <a:r>
              <a:t>面接で「結婚は？出産は？」と聞かれたとき、どう答えればいいかわからない</a:t>
            </a:r>
          </a:p>
          <a:p>
            <a:pPr lvl="1">
              <a:spcAft>
                <a:spcPts val="600"/>
              </a:spcAft>
              <a:defRPr sz="1200">
                <a:solidFill>
                  <a:srgbClr val="333333"/>
                </a:solidFill>
              </a:defRPr>
            </a:pPr>
            <a:r>
              <a:t>地元に残るか東京に出るか、相談できる大人がいない</a:t>
            </a:r>
          </a:p>
          <a:p>
            <a:pPr>
              <a:spcAft>
                <a:spcPts val="600"/>
              </a:spcAft>
              <a:defRPr sz="1400">
                <a:solidFill>
                  <a:srgbClr val="333333"/>
                </a:solidFill>
              </a:defRPr>
            </a:pPr>
          </a:p>
          <a:p>
            <a:pPr>
              <a:spcAft>
                <a:spcPts val="600"/>
              </a:spcAft>
              <a:defRPr sz="1400" b="1">
                <a:solidFill>
                  <a:srgbClr val="5A2030"/>
                </a:solidFill>
              </a:defRPr>
            </a:pPr>
            <a:r>
              <a:t>◎ 親御さん</a:t>
            </a:r>
          </a:p>
          <a:p>
            <a:pPr lvl="1">
              <a:spcAft>
                <a:spcPts val="600"/>
              </a:spcAft>
              <a:defRPr sz="1200">
                <a:solidFill>
                  <a:srgbClr val="333333"/>
                </a:solidFill>
              </a:defRPr>
            </a:pPr>
            <a:r>
              <a:t>子供の就活状況が見えず不安（LINEで聞いても「大丈夫」としか返ってこない）</a:t>
            </a:r>
          </a:p>
          <a:p>
            <a:pPr lvl="1">
              <a:spcAft>
                <a:spcPts val="600"/>
              </a:spcAft>
              <a:defRPr sz="1200">
                <a:solidFill>
                  <a:srgbClr val="333333"/>
                </a:solidFill>
              </a:defRPr>
            </a:pPr>
            <a:r>
              <a:t>自分たちの時代と就活が違いすぎて、アドバイスできない</a:t>
            </a:r>
          </a:p>
          <a:p>
            <a:pPr lvl="1">
              <a:spcAft>
                <a:spcPts val="600"/>
              </a:spcAft>
              <a:defRPr sz="1200">
                <a:solidFill>
                  <a:srgbClr val="333333"/>
                </a:solidFill>
              </a:defRPr>
            </a:pPr>
            <a:r>
              <a:t>高い学費を払っているのに、キャリアセンターだけで大丈夫か心配</a:t>
            </a:r>
          </a:p>
          <a:p>
            <a:pPr>
              <a:spcAft>
                <a:spcPts val="600"/>
              </a:spcAft>
              <a:defRPr sz="1400">
                <a:solidFill>
                  <a:srgbClr val="333333"/>
                </a:solidFill>
              </a:defRPr>
            </a:pPr>
          </a:p>
          <a:p>
            <a:pPr>
              <a:spcAft>
                <a:spcPts val="600"/>
              </a:spcAft>
              <a:defRPr sz="1400" b="1">
                <a:solidFill>
                  <a:srgbClr val="5A2030"/>
                </a:solidFill>
              </a:defRPr>
            </a:pPr>
            <a:r>
              <a:t>◎ 女性リーダー</a:t>
            </a:r>
          </a:p>
          <a:p>
            <a:pPr lvl="1">
              <a:spcAft>
                <a:spcPts val="600"/>
              </a:spcAft>
              <a:defRPr sz="1200">
                <a:solidFill>
                  <a:srgbClr val="333333"/>
                </a:solidFill>
              </a:defRPr>
            </a:pPr>
            <a:r>
              <a:t>管理職になったが、相談できる同じ立場の人がいない</a:t>
            </a:r>
          </a:p>
          <a:p>
            <a:pPr lvl="1">
              <a:spcAft>
                <a:spcPts val="600"/>
              </a:spcAft>
              <a:defRPr sz="1200">
                <a:solidFill>
                  <a:srgbClr val="333333"/>
                </a:solidFill>
              </a:defRPr>
            </a:pPr>
            <a:r>
              <a:t>チームマネジメントや社内政治で壁を感じている</a:t>
            </a:r>
          </a:p>
          <a:p>
            <a:pPr lvl="1">
              <a:spcAft>
                <a:spcPts val="600"/>
              </a:spcAft>
              <a:defRPr sz="1200">
                <a:solidFill>
                  <a:srgbClr val="333333"/>
                </a:solidFill>
              </a:defRPr>
            </a:pPr>
            <a:r>
              <a:t>仕事とライフイベントの両立に悩んでいる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square">
            <a:spAutoFit/>
          </a:bodyPr>
          <a:lstStyle/>
          <a:p>
            <a:pPr algn="l">
              <a:defRPr sz="2200" b="1">
                <a:solidFill>
                  <a:srgbClr val="5A2030"/>
                </a:solidFill>
              </a:defRPr>
            </a:pPr>
            <a:r>
              <a:t>  ハナサクの3つの特徴</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600"/>
              </a:spcAft>
              <a:defRPr sz="1400" b="1">
                <a:solidFill>
                  <a:srgbClr val="5A2030"/>
                </a:solidFill>
              </a:defRPr>
            </a:pPr>
            <a:r>
              <a:t>★ 1. 福井出身コーチによる1on1面談</a:t>
            </a:r>
          </a:p>
          <a:p>
            <a:pPr lvl="1">
              <a:spcAft>
                <a:spcPts val="600"/>
              </a:spcAft>
              <a:defRPr sz="1200">
                <a:solidFill>
                  <a:srgbClr val="333333"/>
                </a:solidFill>
              </a:defRPr>
            </a:pPr>
            <a:r>
              <a:t>福井県出身・高志高校卒のコーチが、地元の空気感を理解した上であなたの言葉を引き出します</a:t>
            </a:r>
          </a:p>
          <a:p>
            <a:pPr lvl="1">
              <a:spcAft>
                <a:spcPts val="600"/>
              </a:spcAft>
              <a:defRPr sz="1200">
                <a:solidFill>
                  <a:srgbClr val="333333"/>
                </a:solidFill>
              </a:defRPr>
            </a:pPr>
            <a:r>
              <a:t>オンライン（Google Meet）なので、全国どこからでも受けられます</a:t>
            </a:r>
          </a:p>
          <a:p>
            <a:pPr>
              <a:spcAft>
                <a:spcPts val="600"/>
              </a:spcAft>
              <a:defRPr sz="1400">
                <a:solidFill>
                  <a:srgbClr val="333333"/>
                </a:solidFill>
              </a:defRPr>
            </a:pPr>
          </a:p>
          <a:p>
            <a:pPr>
              <a:spcAft>
                <a:spcPts val="600"/>
              </a:spcAft>
              <a:defRPr sz="1400" b="1">
                <a:solidFill>
                  <a:srgbClr val="5A2030"/>
                </a:solidFill>
              </a:defRPr>
            </a:pPr>
            <a:r>
              <a:t>★ 2. 親子で安心の伴走型サポート</a:t>
            </a:r>
          </a:p>
          <a:p>
            <a:pPr lvl="1">
              <a:spcAft>
                <a:spcPts val="600"/>
              </a:spcAft>
              <a:defRPr sz="1200">
                <a:solidFill>
                  <a:srgbClr val="333333"/>
                </a:solidFill>
              </a:defRPr>
            </a:pPr>
            <a:r>
              <a:t>長期プランでは親御さんへの月次レポートを標準提供</a:t>
            </a:r>
          </a:p>
          <a:p>
            <a:pPr lvl="1">
              <a:spcAft>
                <a:spcPts val="600"/>
              </a:spcAft>
              <a:defRPr sz="1200">
                <a:solidFill>
                  <a:srgbClr val="333333"/>
                </a:solidFill>
              </a:defRPr>
            </a:pPr>
            <a:r>
              <a:t>お子さんの成長ポイント、来月の計画、親へのお願い事項をお伝えします</a:t>
            </a:r>
          </a:p>
          <a:p>
            <a:pPr lvl="1">
              <a:spcAft>
                <a:spcPts val="600"/>
              </a:spcAft>
              <a:defRPr sz="1200">
                <a:solidFill>
                  <a:srgbClr val="333333"/>
                </a:solidFill>
              </a:defRPr>
            </a:pPr>
            <a:r>
              <a:t>プライバシーは厳守します</a:t>
            </a:r>
          </a:p>
          <a:p>
            <a:pPr>
              <a:spcAft>
                <a:spcPts val="600"/>
              </a:spcAft>
              <a:defRPr sz="1400">
                <a:solidFill>
                  <a:srgbClr val="333333"/>
                </a:solidFill>
              </a:defRPr>
            </a:pPr>
          </a:p>
          <a:p>
            <a:pPr>
              <a:spcAft>
                <a:spcPts val="600"/>
              </a:spcAft>
              <a:defRPr sz="1400" b="1">
                <a:solidFill>
                  <a:srgbClr val="5A2030"/>
                </a:solidFill>
              </a:defRPr>
            </a:pPr>
            <a:r>
              <a:t>★ 3. 女子学生専門だからできること</a:t>
            </a:r>
          </a:p>
          <a:p>
            <a:pPr lvl="1">
              <a:spcAft>
                <a:spcPts val="600"/>
              </a:spcAft>
              <a:defRPr sz="1200">
                <a:solidFill>
                  <a:srgbClr val="333333"/>
                </a:solidFill>
              </a:defRPr>
            </a:pPr>
            <a:r>
              <a:t>女性活躍推進プログラムで社外メンターを務めた経験を活かし、女子学生特有の悩みに寄り添います</a:t>
            </a:r>
          </a:p>
          <a:p>
            <a:pPr lvl="1">
              <a:spcAft>
                <a:spcPts val="600"/>
              </a:spcAft>
              <a:defRPr sz="1200">
                <a:solidFill>
                  <a:srgbClr val="333333"/>
                </a:solidFill>
              </a:defRPr>
            </a:pPr>
            <a:r>
              <a:t>外見への言及、ライフプランへの圧、自己主張への抵抗感にも対応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none">
            <a:spAutoFit/>
          </a:bodyPr>
          <a:lstStyle/>
          <a:p>
            <a:pPr>
              <a:defRPr sz="2200" b="1">
                <a:solidFill>
                  <a:srgbClr val="5A2030"/>
                </a:solidFill>
              </a:defRPr>
            </a:pPr>
            <a:r>
              <a:t>  料金プラン｜就活伴走コーチング（30分/回）</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100" b="1">
                          <a:solidFill>
                            <a:srgbClr val="FFFFFF"/>
                          </a:solidFill>
                        </a:defRPr>
                      </a:pPr>
                      <a:r>
                        <a:t>プラン</a:t>
                      </a:r>
                    </a:p>
                  </a:txBody>
                  <a:tcPr>
                    <a:solidFill>
                      <a:srgbClr val="5A2030"/>
                    </a:solidFill>
                  </a:tcPr>
                </a:tc>
                <a:tc>
                  <a:txBody>
                    <a:bodyPr/>
                    <a:lstStyle/>
                    <a:p>
                      <a:pPr>
                        <a:defRPr sz="1100" b="1">
                          <a:solidFill>
                            <a:srgbClr val="FFFFFF"/>
                          </a:solidFill>
                        </a:defRPr>
                      </a:pPr>
                      <a:r>
                        <a:t>料金（税込）</a:t>
                      </a:r>
                    </a:p>
                  </a:txBody>
                  <a:tcPr>
                    <a:solidFill>
                      <a:srgbClr val="5A2030"/>
                    </a:solidFill>
                  </a:tcPr>
                </a:tc>
                <a:tc>
                  <a:txBody>
                    <a:bodyPr/>
                    <a:lstStyle/>
                    <a:p>
                      <a:pPr>
                        <a:defRPr sz="1100" b="1">
                          <a:solidFill>
                            <a:srgbClr val="FFFFFF"/>
                          </a:solidFill>
                        </a:defRPr>
                      </a:pPr>
                      <a:r>
                        <a:t>内容</a:t>
                      </a:r>
                    </a:p>
                  </a:txBody>
                  <a:tcPr>
                    <a:solidFill>
                      <a:srgbClr val="5A2030"/>
                    </a:solidFill>
                  </a:tcPr>
                </a:tc>
                <a:tc>
                  <a:txBody>
                    <a:bodyPr/>
                    <a:lstStyle/>
                    <a:p>
                      <a:pPr>
                        <a:defRPr sz="1100" b="1">
                          <a:solidFill>
                            <a:srgbClr val="FFFFFF"/>
                          </a:solidFill>
                        </a:defRPr>
                      </a:pPr>
                      <a:r>
                        <a:t>1回あたり</a:t>
                      </a:r>
                    </a:p>
                  </a:txBody>
                  <a:tcPr>
                    <a:solidFill>
                      <a:srgbClr val="5A2030"/>
                    </a:solidFill>
                  </a:tcPr>
                </a:tc>
              </a:tr>
              <a:tr h="365760">
                <a:tc>
                  <a:txBody>
                    <a:bodyPr/>
                    <a:lstStyle/>
                    <a:p>
                      <a:pPr>
                        <a:defRPr sz="1000">
                          <a:solidFill>
                            <a:srgbClr val="333333"/>
                          </a:solidFill>
                        </a:defRPr>
                      </a:pPr>
                      <a:r>
                        <a:t>都度払い</a:t>
                      </a:r>
                    </a:p>
                  </a:txBody>
                  <a:tcPr>
                    <a:solidFill>
                      <a:srgbClr val="F5E6EA"/>
                    </a:solidFill>
                  </a:tcPr>
                </a:tc>
                <a:tc>
                  <a:txBody>
                    <a:bodyPr/>
                    <a:lstStyle/>
                    <a:p>
                      <a:pPr>
                        <a:defRPr sz="1000">
                          <a:solidFill>
                            <a:srgbClr val="333333"/>
                          </a:solidFill>
                        </a:defRPr>
                      </a:pPr>
                      <a:r>
                        <a:t>3,000円/回</a:t>
                      </a:r>
                    </a:p>
                  </a:txBody>
                  <a:tcPr>
                    <a:solidFill>
                      <a:srgbClr val="F5E6EA"/>
                    </a:solidFill>
                  </a:tcPr>
                </a:tc>
                <a:tc>
                  <a:txBody>
                    <a:bodyPr/>
                    <a:lstStyle/>
                    <a:p>
                      <a:pPr>
                        <a:defRPr sz="1000">
                          <a:solidFill>
                            <a:srgbClr val="333333"/>
                          </a:solidFill>
                        </a:defRPr>
                      </a:pPr>
                      <a:r>
                        <a:t>オンライン面談 1回</a:t>
                      </a:r>
                    </a:p>
                  </a:txBody>
                  <a:tcPr>
                    <a:solidFill>
                      <a:srgbClr val="F5E6EA"/>
                    </a:solidFill>
                  </a:tcPr>
                </a:tc>
                <a:tc>
                  <a:txBody>
                    <a:bodyPr/>
                    <a:lstStyle/>
                    <a:p>
                      <a:pPr>
                        <a:defRPr sz="1000">
                          <a:solidFill>
                            <a:srgbClr val="333333"/>
                          </a:solidFill>
                        </a:defRPr>
                      </a:pPr>
                      <a:r>
                        <a:t>3,000円</a:t>
                      </a:r>
                    </a:p>
                  </a:txBody>
                  <a:tcPr>
                    <a:solidFill>
                      <a:srgbClr val="F5E6EA"/>
                    </a:solidFill>
                  </a:tcPr>
                </a:tc>
              </a:tr>
              <a:tr h="365760">
                <a:tc>
                  <a:txBody>
                    <a:bodyPr/>
                    <a:lstStyle/>
                    <a:p>
                      <a:pPr>
                        <a:defRPr sz="1000">
                          <a:solidFill>
                            <a:srgbClr val="333333"/>
                          </a:solidFill>
                        </a:defRPr>
                      </a:pPr>
                      <a:r>
                        <a:t>4回チケット</a:t>
                      </a:r>
                    </a:p>
                  </a:txBody>
                  <a:tcPr/>
                </a:tc>
                <a:tc>
                  <a:txBody>
                    <a:bodyPr/>
                    <a:lstStyle/>
                    <a:p>
                      <a:pPr>
                        <a:defRPr sz="1000">
                          <a:solidFill>
                            <a:srgbClr val="333333"/>
                          </a:solidFill>
                        </a:defRPr>
                      </a:pPr>
                      <a:r>
                        <a:t>10,000円</a:t>
                      </a:r>
                    </a:p>
                  </a:txBody>
                  <a:tcPr/>
                </a:tc>
                <a:tc>
                  <a:txBody>
                    <a:bodyPr/>
                    <a:lstStyle/>
                    <a:p>
                      <a:pPr>
                        <a:defRPr sz="1000">
                          <a:solidFill>
                            <a:srgbClr val="333333"/>
                          </a:solidFill>
                        </a:defRPr>
                      </a:pPr>
                      <a:r>
                        <a:t>好きなタイミングで4回（有効期限3か月）</a:t>
                      </a:r>
                    </a:p>
                  </a:txBody>
                  <a:tcPr/>
                </a:tc>
                <a:tc>
                  <a:txBody>
                    <a:bodyPr/>
                    <a:lstStyle/>
                    <a:p>
                      <a:pPr>
                        <a:defRPr sz="1000">
                          <a:solidFill>
                            <a:srgbClr val="333333"/>
                          </a:solidFill>
                        </a:defRPr>
                      </a:pPr>
                      <a:r>
                        <a:t>2,500円</a:t>
                      </a:r>
                    </a:p>
                  </a:txBody>
                  <a:tcPr/>
                </a:tc>
              </a:tr>
              <a:tr h="365760">
                <a:tc>
                  <a:txBody>
                    <a:bodyPr/>
                    <a:lstStyle/>
                    <a:p>
                      <a:pPr>
                        <a:defRPr sz="1000">
                          <a:solidFill>
                            <a:srgbClr val="333333"/>
                          </a:solidFill>
                        </a:defRPr>
                      </a:pPr>
                      <a:r>
                        <a:t>3か月伴走プラン</a:t>
                      </a:r>
                    </a:p>
                  </a:txBody>
                  <a:tcPr>
                    <a:solidFill>
                      <a:srgbClr val="F5E6EA"/>
                    </a:solidFill>
                  </a:tcPr>
                </a:tc>
                <a:tc>
                  <a:txBody>
                    <a:bodyPr/>
                    <a:lstStyle/>
                    <a:p>
                      <a:pPr>
                        <a:defRPr sz="1000">
                          <a:solidFill>
                            <a:srgbClr val="333333"/>
                          </a:solidFill>
                        </a:defRPr>
                      </a:pPr>
                      <a:r>
                        <a:t>15,000円</a:t>
                      </a:r>
                    </a:p>
                  </a:txBody>
                  <a:tcPr>
                    <a:solidFill>
                      <a:srgbClr val="F5E6EA"/>
                    </a:solidFill>
                  </a:tcPr>
                </a:tc>
                <a:tc>
                  <a:txBody>
                    <a:bodyPr/>
                    <a:lstStyle/>
                    <a:p>
                      <a:pPr>
                        <a:defRPr sz="1000">
                          <a:solidFill>
                            <a:srgbClr val="333333"/>
                          </a:solidFill>
                        </a:defRPr>
                      </a:pPr>
                      <a:r>
                        <a:t>月2回×3か月（計6回）+ LINE質問対応</a:t>
                      </a:r>
                    </a:p>
                  </a:txBody>
                  <a:tcPr>
                    <a:solidFill>
                      <a:srgbClr val="F5E6EA"/>
                    </a:solidFill>
                  </a:tcPr>
                </a:tc>
                <a:tc>
                  <a:txBody>
                    <a:bodyPr/>
                    <a:lstStyle/>
                    <a:p>
                      <a:pPr>
                        <a:defRPr sz="1000">
                          <a:solidFill>
                            <a:srgbClr val="333333"/>
                          </a:solidFill>
                        </a:defRPr>
                      </a:pPr>
                      <a:r>
                        <a:t>2,500円</a:t>
                      </a:r>
                    </a:p>
                  </a:txBody>
                  <a:tcPr>
                    <a:solidFill>
                      <a:srgbClr val="F5E6EA"/>
                    </a:solidFill>
                  </a:tcPr>
                </a:tc>
              </a:tr>
              <a:tr h="365760">
                <a:tc>
                  <a:txBody>
                    <a:bodyPr/>
                    <a:lstStyle/>
                    <a:p>
                      <a:pPr>
                        <a:defRPr sz="1000">
                          <a:solidFill>
                            <a:srgbClr val="333333"/>
                          </a:solidFill>
                        </a:defRPr>
                      </a:pPr>
                      <a:r>
                        <a:t>6か月伴走プラン</a:t>
                      </a:r>
                    </a:p>
                  </a:txBody>
                  <a:tcPr/>
                </a:tc>
                <a:tc>
                  <a:txBody>
                    <a:bodyPr/>
                    <a:lstStyle/>
                    <a:p>
                      <a:pPr>
                        <a:defRPr sz="1000">
                          <a:solidFill>
                            <a:srgbClr val="333333"/>
                          </a:solidFill>
                        </a:defRPr>
                      </a:pPr>
                      <a:r>
                        <a:t>27,000円</a:t>
                      </a:r>
                    </a:p>
                  </a:txBody>
                  <a:tcPr/>
                </a:tc>
                <a:tc>
                  <a:txBody>
                    <a:bodyPr/>
                    <a:lstStyle/>
                    <a:p>
                      <a:pPr>
                        <a:defRPr sz="1000">
                          <a:solidFill>
                            <a:srgbClr val="333333"/>
                          </a:solidFill>
                        </a:defRPr>
                      </a:pPr>
                      <a:r>
                        <a:t>月2回×6か月（計12回）+ LINE + 月次レポート</a:t>
                      </a:r>
                    </a:p>
                  </a:txBody>
                  <a:tcPr/>
                </a:tc>
                <a:tc>
                  <a:txBody>
                    <a:bodyPr/>
                    <a:lstStyle/>
                    <a:p>
                      <a:pPr>
                        <a:defRPr sz="1000">
                          <a:solidFill>
                            <a:srgbClr val="333333"/>
                          </a:solidFill>
                        </a:defRPr>
                      </a:pPr>
                      <a:r>
                        <a:t>2,250円</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none">
            <a:spAutoFit/>
          </a:bodyPr>
          <a:lstStyle/>
          <a:p>
            <a:pPr>
              <a:defRPr sz="2200" b="1">
                <a:solidFill>
                  <a:srgbClr val="5A2030"/>
                </a:solidFill>
              </a:defRPr>
            </a:pPr>
            <a:r>
              <a:t>  料金プラン｜女性リーダー向けメンタリング（45分/回）</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188720"/>
          <a:ext cx="8229600" cy="109728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100" b="1">
                          <a:solidFill>
                            <a:srgbClr val="FFFFFF"/>
                          </a:solidFill>
                        </a:defRPr>
                      </a:pPr>
                      <a:r>
                        <a:t>プラン</a:t>
                      </a:r>
                    </a:p>
                  </a:txBody>
                  <a:tcPr>
                    <a:solidFill>
                      <a:srgbClr val="5A2030"/>
                    </a:solidFill>
                  </a:tcPr>
                </a:tc>
                <a:tc>
                  <a:txBody>
                    <a:bodyPr/>
                    <a:lstStyle/>
                    <a:p>
                      <a:pPr>
                        <a:defRPr sz="1100" b="1">
                          <a:solidFill>
                            <a:srgbClr val="FFFFFF"/>
                          </a:solidFill>
                        </a:defRPr>
                      </a:pPr>
                      <a:r>
                        <a:t>料金（税込）</a:t>
                      </a:r>
                    </a:p>
                  </a:txBody>
                  <a:tcPr>
                    <a:solidFill>
                      <a:srgbClr val="5A2030"/>
                    </a:solidFill>
                  </a:tcPr>
                </a:tc>
                <a:tc>
                  <a:txBody>
                    <a:bodyPr/>
                    <a:lstStyle/>
                    <a:p>
                      <a:pPr>
                        <a:defRPr sz="1100" b="1">
                          <a:solidFill>
                            <a:srgbClr val="FFFFFF"/>
                          </a:solidFill>
                        </a:defRPr>
                      </a:pPr>
                      <a:r>
                        <a:t>内容</a:t>
                      </a:r>
                    </a:p>
                  </a:txBody>
                  <a:tcPr>
                    <a:solidFill>
                      <a:srgbClr val="5A2030"/>
                    </a:solidFill>
                  </a:tcPr>
                </a:tc>
                <a:tc>
                  <a:txBody>
                    <a:bodyPr/>
                    <a:lstStyle/>
                    <a:p>
                      <a:pPr>
                        <a:defRPr sz="1100" b="1">
                          <a:solidFill>
                            <a:srgbClr val="FFFFFF"/>
                          </a:solidFill>
                        </a:defRPr>
                      </a:pPr>
                      <a:r>
                        <a:t>1回あたり</a:t>
                      </a:r>
                    </a:p>
                  </a:txBody>
                  <a:tcPr>
                    <a:solidFill>
                      <a:srgbClr val="5A2030"/>
                    </a:solidFill>
                  </a:tcPr>
                </a:tc>
              </a:tr>
              <a:tr h="365760">
                <a:tc>
                  <a:txBody>
                    <a:bodyPr/>
                    <a:lstStyle/>
                    <a:p>
                      <a:pPr>
                        <a:defRPr sz="1000">
                          <a:solidFill>
                            <a:srgbClr val="333333"/>
                          </a:solidFill>
                        </a:defRPr>
                      </a:pPr>
                      <a:r>
                        <a:t>都度払い</a:t>
                      </a:r>
                    </a:p>
                  </a:txBody>
                  <a:tcPr>
                    <a:solidFill>
                      <a:srgbClr val="F5E6EA"/>
                    </a:solidFill>
                  </a:tcPr>
                </a:tc>
                <a:tc>
                  <a:txBody>
                    <a:bodyPr/>
                    <a:lstStyle/>
                    <a:p>
                      <a:pPr>
                        <a:defRPr sz="1000">
                          <a:solidFill>
                            <a:srgbClr val="333333"/>
                          </a:solidFill>
                        </a:defRPr>
                      </a:pPr>
                      <a:r>
                        <a:t>4,000円/回</a:t>
                      </a:r>
                    </a:p>
                  </a:txBody>
                  <a:tcPr>
                    <a:solidFill>
                      <a:srgbClr val="F5E6EA"/>
                    </a:solidFill>
                  </a:tcPr>
                </a:tc>
                <a:tc>
                  <a:txBody>
                    <a:bodyPr/>
                    <a:lstStyle/>
                    <a:p>
                      <a:pPr>
                        <a:defRPr sz="1000">
                          <a:solidFill>
                            <a:srgbClr val="333333"/>
                          </a:solidFill>
                        </a:defRPr>
                      </a:pPr>
                      <a:r>
                        <a:t>オンライン1on1 1回</a:t>
                      </a:r>
                    </a:p>
                  </a:txBody>
                  <a:tcPr>
                    <a:solidFill>
                      <a:srgbClr val="F5E6EA"/>
                    </a:solidFill>
                  </a:tcPr>
                </a:tc>
                <a:tc>
                  <a:txBody>
                    <a:bodyPr/>
                    <a:lstStyle/>
                    <a:p>
                      <a:pPr>
                        <a:defRPr sz="1000">
                          <a:solidFill>
                            <a:srgbClr val="333333"/>
                          </a:solidFill>
                        </a:defRPr>
                      </a:pPr>
                      <a:r>
                        <a:t>4,000円</a:t>
                      </a:r>
                    </a:p>
                  </a:txBody>
                  <a:tcPr>
                    <a:solidFill>
                      <a:srgbClr val="F5E6EA"/>
                    </a:solidFill>
                  </a:tcPr>
                </a:tc>
              </a:tr>
              <a:tr h="365760">
                <a:tc>
                  <a:txBody>
                    <a:bodyPr/>
                    <a:lstStyle/>
                    <a:p>
                      <a:pPr>
                        <a:defRPr sz="1000">
                          <a:solidFill>
                            <a:srgbClr val="333333"/>
                          </a:solidFill>
                        </a:defRPr>
                      </a:pPr>
                      <a:r>
                        <a:t>3か月プラン</a:t>
                      </a:r>
                    </a:p>
                  </a:txBody>
                  <a:tcPr/>
                </a:tc>
                <a:tc>
                  <a:txBody>
                    <a:bodyPr/>
                    <a:lstStyle/>
                    <a:p>
                      <a:pPr>
                        <a:defRPr sz="1000">
                          <a:solidFill>
                            <a:srgbClr val="333333"/>
                          </a:solidFill>
                        </a:defRPr>
                      </a:pPr>
                      <a:r>
                        <a:t>20,000円</a:t>
                      </a:r>
                    </a:p>
                  </a:txBody>
                  <a:tcPr/>
                </a:tc>
                <a:tc>
                  <a:txBody>
                    <a:bodyPr/>
                    <a:lstStyle/>
                    <a:p>
                      <a:pPr>
                        <a:defRPr sz="1000">
                          <a:solidFill>
                            <a:srgbClr val="333333"/>
                          </a:solidFill>
                        </a:defRPr>
                      </a:pPr>
                      <a:r>
                        <a:t>月2回×3か月（計6回）+ LINE相談対応</a:t>
                      </a:r>
                    </a:p>
                  </a:txBody>
                  <a:tcPr/>
                </a:tc>
                <a:tc>
                  <a:txBody>
                    <a:bodyPr/>
                    <a:lstStyle/>
                    <a:p>
                      <a:pPr>
                        <a:defRPr sz="1000">
                          <a:solidFill>
                            <a:srgbClr val="333333"/>
                          </a:solidFill>
                        </a:defRPr>
                      </a:pPr>
                      <a:r>
                        <a:t>約3,300円</a:t>
                      </a:r>
                    </a:p>
                  </a:txBody>
                  <a:tcPr/>
                </a:tc>
              </a:tr>
            </a:tbl>
          </a:graphicData>
        </a:graphic>
      </p:graphicFrame>
      <p:sp>
        <p:nvSpPr>
          <p:cNvPr id="5" name="TextBox 4"/>
          <p:cNvSpPr txBox="1"/>
          <p:nvPr/>
        </p:nvSpPr>
        <p:spPr>
          <a:xfrm>
            <a:off x="548640" y="3200400"/>
            <a:ext cx="8046720" cy="1371600"/>
          </a:xfrm>
          <a:prstGeom prst="rect">
            <a:avLst/>
          </a:prstGeom>
          <a:noFill/>
        </p:spPr>
        <p:txBody>
          <a:bodyPr wrap="square">
            <a:spAutoFit/>
          </a:bodyPr>
          <a:lstStyle/>
          <a:p>
            <a:pPr>
              <a:spcAft>
                <a:spcPts val="800"/>
              </a:spcAft>
              <a:defRPr sz="1300" b="1">
                <a:solidFill>
                  <a:srgbClr val="5A2030"/>
                </a:solidFill>
              </a:defRPr>
            </a:pPr>
            <a:r>
              <a:t>★ 初回面談は無料</a:t>
            </a:r>
          </a:p>
          <a:p>
            <a:pPr>
              <a:spcAft>
                <a:spcPts val="800"/>
              </a:spcAft>
              <a:defRPr sz="1300" b="1">
                <a:solidFill>
                  <a:srgbClr val="5A2030"/>
                </a:solidFill>
              </a:defRPr>
            </a:pPr>
            <a:r>
              <a:t>★ お友達紹介で、紹介した方・された方どちらも次回1,000円OFF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none">
            <a:spAutoFit/>
          </a:bodyPr>
          <a:lstStyle/>
          <a:p>
            <a:pPr>
              <a:defRPr sz="2200" b="1">
                <a:solidFill>
                  <a:srgbClr val="5A2030"/>
                </a:solidFill>
              </a:defRPr>
            </a:pPr>
            <a:r>
              <a:t>  他の就活サービスとの違い</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188720"/>
          <a:ext cx="8229600" cy="25603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100" b="1">
                          <a:solidFill>
                            <a:srgbClr val="FFFFFF"/>
                          </a:solidFill>
                        </a:defRPr>
                      </a:pPr>
                    </a:p>
                  </a:txBody>
                  <a:tcPr>
                    <a:solidFill>
                      <a:srgbClr val="5A2030"/>
                    </a:solidFill>
                  </a:tcPr>
                </a:tc>
                <a:tc>
                  <a:txBody>
                    <a:bodyPr/>
                    <a:lstStyle/>
                    <a:p>
                      <a:pPr>
                        <a:defRPr sz="1100" b="1">
                          <a:solidFill>
                            <a:srgbClr val="FFFFFF"/>
                          </a:solidFill>
                        </a:defRPr>
                      </a:pPr>
                      <a:r>
                        <a:t>大学キャリアセンター</a:t>
                      </a:r>
                    </a:p>
                  </a:txBody>
                  <a:tcPr>
                    <a:solidFill>
                      <a:srgbClr val="5A2030"/>
                    </a:solidFill>
                  </a:tcPr>
                </a:tc>
                <a:tc>
                  <a:txBody>
                    <a:bodyPr/>
                    <a:lstStyle/>
                    <a:p>
                      <a:pPr>
                        <a:defRPr sz="1100" b="1">
                          <a:solidFill>
                            <a:srgbClr val="FFFFFF"/>
                          </a:solidFill>
                        </a:defRPr>
                      </a:pPr>
                      <a:r>
                        <a:t>就活塾（東京系）</a:t>
                      </a:r>
                    </a:p>
                  </a:txBody>
                  <a:tcPr>
                    <a:solidFill>
                      <a:srgbClr val="5A2030"/>
                    </a:solidFill>
                  </a:tcPr>
                </a:tc>
                <a:tc>
                  <a:txBody>
                    <a:bodyPr/>
                    <a:lstStyle/>
                    <a:p>
                      <a:pPr>
                        <a:defRPr sz="1100" b="1">
                          <a:solidFill>
                            <a:srgbClr val="FFFFFF"/>
                          </a:solidFill>
                        </a:defRPr>
                      </a:pPr>
                      <a:r>
                        <a:t>就活エージェント</a:t>
                      </a:r>
                    </a:p>
                  </a:txBody>
                  <a:tcPr>
                    <a:solidFill>
                      <a:srgbClr val="5A2030"/>
                    </a:solidFill>
                  </a:tcPr>
                </a:tc>
                <a:tc>
                  <a:txBody>
                    <a:bodyPr/>
                    <a:lstStyle/>
                    <a:p>
                      <a:pPr>
                        <a:defRPr sz="1100" b="1">
                          <a:solidFill>
                            <a:srgbClr val="FFFFFF"/>
                          </a:solidFill>
                        </a:defRPr>
                      </a:pPr>
                      <a:r>
                        <a:t>ハナサク</a:t>
                      </a:r>
                    </a:p>
                  </a:txBody>
                  <a:tcPr>
                    <a:solidFill>
                      <a:srgbClr val="5A2030"/>
                    </a:solidFill>
                  </a:tcPr>
                </a:tc>
              </a:tr>
              <a:tr h="365760">
                <a:tc>
                  <a:txBody>
                    <a:bodyPr/>
                    <a:lstStyle/>
                    <a:p>
                      <a:pPr>
                        <a:defRPr sz="1000">
                          <a:solidFill>
                            <a:srgbClr val="333333"/>
                          </a:solidFill>
                        </a:defRPr>
                      </a:pPr>
                      <a:r>
                        <a:t>料金</a:t>
                      </a:r>
                    </a:p>
                  </a:txBody>
                  <a:tcPr>
                    <a:solidFill>
                      <a:srgbClr val="F5E6EA"/>
                    </a:solidFill>
                  </a:tcPr>
                </a:tc>
                <a:tc>
                  <a:txBody>
                    <a:bodyPr/>
                    <a:lstStyle/>
                    <a:p>
                      <a:pPr>
                        <a:defRPr sz="1000">
                          <a:solidFill>
                            <a:srgbClr val="333333"/>
                          </a:solidFill>
                        </a:defRPr>
                      </a:pPr>
                      <a:r>
                        <a:t>無料</a:t>
                      </a:r>
                    </a:p>
                  </a:txBody>
                  <a:tcPr>
                    <a:solidFill>
                      <a:srgbClr val="F5E6EA"/>
                    </a:solidFill>
                  </a:tcPr>
                </a:tc>
                <a:tc>
                  <a:txBody>
                    <a:bodyPr/>
                    <a:lstStyle/>
                    <a:p>
                      <a:pPr>
                        <a:defRPr sz="1000">
                          <a:solidFill>
                            <a:srgbClr val="333333"/>
                          </a:solidFill>
                        </a:defRPr>
                      </a:pPr>
                      <a:r>
                        <a:t>15〜40万円</a:t>
                      </a:r>
                    </a:p>
                  </a:txBody>
                  <a:tcPr>
                    <a:solidFill>
                      <a:srgbClr val="F5E6EA"/>
                    </a:solidFill>
                  </a:tcPr>
                </a:tc>
                <a:tc>
                  <a:txBody>
                    <a:bodyPr/>
                    <a:lstStyle/>
                    <a:p>
                      <a:pPr>
                        <a:defRPr sz="1000">
                          <a:solidFill>
                            <a:srgbClr val="333333"/>
                          </a:solidFill>
                        </a:defRPr>
                      </a:pPr>
                      <a:r>
                        <a:t>無料</a:t>
                      </a:r>
                    </a:p>
                  </a:txBody>
                  <a:tcPr>
                    <a:solidFill>
                      <a:srgbClr val="F5E6EA"/>
                    </a:solidFill>
                  </a:tcPr>
                </a:tc>
                <a:tc>
                  <a:txBody>
                    <a:bodyPr/>
                    <a:lstStyle/>
                    <a:p>
                      <a:pPr>
                        <a:defRPr sz="1000">
                          <a:solidFill>
                            <a:srgbClr val="333333"/>
                          </a:solidFill>
                        </a:defRPr>
                      </a:pPr>
                      <a:r>
                        <a:t>3,000円/回〜</a:t>
                      </a:r>
                    </a:p>
                  </a:txBody>
                  <a:tcPr>
                    <a:solidFill>
                      <a:srgbClr val="F5E6EA"/>
                    </a:solidFill>
                  </a:tcPr>
                </a:tc>
              </a:tr>
              <a:tr h="365760">
                <a:tc>
                  <a:txBody>
                    <a:bodyPr/>
                    <a:lstStyle/>
                    <a:p>
                      <a:pPr>
                        <a:defRPr sz="1000">
                          <a:solidFill>
                            <a:srgbClr val="333333"/>
                          </a:solidFill>
                        </a:defRPr>
                      </a:pPr>
                      <a:r>
                        <a:t>地方対応</a:t>
                      </a:r>
                    </a:p>
                  </a:txBody>
                  <a:tcPr/>
                </a:tc>
                <a:tc>
                  <a:txBody>
                    <a:bodyPr/>
                    <a:lstStyle/>
                    <a:p>
                      <a:pPr>
                        <a:defRPr sz="1000">
                          <a:solidFill>
                            <a:srgbClr val="333333"/>
                          </a:solidFill>
                        </a:defRPr>
                      </a:pPr>
                      <a:r>
                        <a:t>各大学内</a:t>
                      </a:r>
                    </a:p>
                  </a:txBody>
                  <a:tcPr/>
                </a:tc>
                <a:tc>
                  <a:txBody>
                    <a:bodyPr/>
                    <a:lstStyle/>
                    <a:p>
                      <a:pPr>
                        <a:defRPr sz="1000">
                          <a:solidFill>
                            <a:srgbClr val="333333"/>
                          </a:solidFill>
                        </a:defRPr>
                      </a:pPr>
                      <a:r>
                        <a:t>東京圏中心</a:t>
                      </a:r>
                    </a:p>
                  </a:txBody>
                  <a:tcPr/>
                </a:tc>
                <a:tc>
                  <a:txBody>
                    <a:bodyPr/>
                    <a:lstStyle/>
                    <a:p>
                      <a:pPr>
                        <a:defRPr sz="1000">
                          <a:solidFill>
                            <a:srgbClr val="333333"/>
                          </a:solidFill>
                        </a:defRPr>
                      </a:pPr>
                      <a:r>
                        <a:t>オンライン可</a:t>
                      </a:r>
                    </a:p>
                  </a:txBody>
                  <a:tcPr/>
                </a:tc>
                <a:tc>
                  <a:txBody>
                    <a:bodyPr/>
                    <a:lstStyle/>
                    <a:p>
                      <a:pPr>
                        <a:defRPr sz="1000">
                          <a:solidFill>
                            <a:srgbClr val="333333"/>
                          </a:solidFill>
                        </a:defRPr>
                      </a:pPr>
                      <a:r>
                        <a:t>福井特化</a:t>
                      </a:r>
                    </a:p>
                  </a:txBody>
                  <a:tcPr/>
                </a:tc>
              </a:tr>
              <a:tr h="365760">
                <a:tc>
                  <a:txBody>
                    <a:bodyPr/>
                    <a:lstStyle/>
                    <a:p>
                      <a:pPr>
                        <a:defRPr sz="1000">
                          <a:solidFill>
                            <a:srgbClr val="333333"/>
                          </a:solidFill>
                        </a:defRPr>
                      </a:pPr>
                      <a:r>
                        <a:t>女子特化</a:t>
                      </a:r>
                    </a:p>
                  </a:txBody>
                  <a:tcPr>
                    <a:solidFill>
                      <a:srgbClr val="F5E6EA"/>
                    </a:solidFill>
                  </a:tcPr>
                </a:tc>
                <a:tc>
                  <a:txBody>
                    <a:bodyPr/>
                    <a:lstStyle/>
                    <a:p>
                      <a:pPr>
                        <a:defRPr sz="1000">
                          <a:solidFill>
                            <a:srgbClr val="333333"/>
                          </a:solidFill>
                        </a:defRPr>
                      </a:pPr>
                      <a:r>
                        <a:t>なし</a:t>
                      </a:r>
                    </a:p>
                  </a:txBody>
                  <a:tcPr>
                    <a:solidFill>
                      <a:srgbClr val="F5E6EA"/>
                    </a:solidFill>
                  </a:tcPr>
                </a:tc>
                <a:tc>
                  <a:txBody>
                    <a:bodyPr/>
                    <a:lstStyle/>
                    <a:p>
                      <a:pPr>
                        <a:defRPr sz="1000">
                          <a:solidFill>
                            <a:srgbClr val="333333"/>
                          </a:solidFill>
                        </a:defRPr>
                      </a:pPr>
                      <a:r>
                        <a:t>なし</a:t>
                      </a:r>
                    </a:p>
                  </a:txBody>
                  <a:tcPr>
                    <a:solidFill>
                      <a:srgbClr val="F5E6EA"/>
                    </a:solidFill>
                  </a:tcPr>
                </a:tc>
                <a:tc>
                  <a:txBody>
                    <a:bodyPr/>
                    <a:lstStyle/>
                    <a:p>
                      <a:pPr>
                        <a:defRPr sz="1000">
                          <a:solidFill>
                            <a:srgbClr val="333333"/>
                          </a:solidFill>
                        </a:defRPr>
                      </a:pPr>
                      <a:r>
                        <a:t>一部あり</a:t>
                      </a:r>
                    </a:p>
                  </a:txBody>
                  <a:tcPr>
                    <a:solidFill>
                      <a:srgbClr val="F5E6EA"/>
                    </a:solidFill>
                  </a:tcPr>
                </a:tc>
                <a:tc>
                  <a:txBody>
                    <a:bodyPr/>
                    <a:lstStyle/>
                    <a:p>
                      <a:pPr>
                        <a:defRPr sz="1000">
                          <a:solidFill>
                            <a:srgbClr val="333333"/>
                          </a:solidFill>
                        </a:defRPr>
                      </a:pPr>
                      <a:r>
                        <a:t>専門</a:t>
                      </a:r>
                    </a:p>
                  </a:txBody>
                  <a:tcPr>
                    <a:solidFill>
                      <a:srgbClr val="F5E6EA"/>
                    </a:solidFill>
                  </a:tcPr>
                </a:tc>
              </a:tr>
              <a:tr h="365760">
                <a:tc>
                  <a:txBody>
                    <a:bodyPr/>
                    <a:lstStyle/>
                    <a:p>
                      <a:pPr>
                        <a:defRPr sz="1000">
                          <a:solidFill>
                            <a:srgbClr val="333333"/>
                          </a:solidFill>
                        </a:defRPr>
                      </a:pPr>
                      <a:r>
                        <a:t>親への対応</a:t>
                      </a:r>
                    </a:p>
                  </a:txBody>
                  <a:tcPr/>
                </a:tc>
                <a:tc>
                  <a:txBody>
                    <a:bodyPr/>
                    <a:lstStyle/>
                    <a:p>
                      <a:pPr>
                        <a:defRPr sz="1000">
                          <a:solidFill>
                            <a:srgbClr val="333333"/>
                          </a:solidFill>
                        </a:defRPr>
                      </a:pPr>
                      <a:r>
                        <a:t>なし</a:t>
                      </a:r>
                    </a:p>
                  </a:txBody>
                  <a:tcPr/>
                </a:tc>
                <a:tc>
                  <a:txBody>
                    <a:bodyPr/>
                    <a:lstStyle/>
                    <a:p>
                      <a:pPr>
                        <a:defRPr sz="1000">
                          <a:solidFill>
                            <a:srgbClr val="333333"/>
                          </a:solidFill>
                        </a:defRPr>
                      </a:pPr>
                      <a:r>
                        <a:t>なし</a:t>
                      </a:r>
                    </a:p>
                  </a:txBody>
                  <a:tcPr/>
                </a:tc>
                <a:tc>
                  <a:txBody>
                    <a:bodyPr/>
                    <a:lstStyle/>
                    <a:p>
                      <a:pPr>
                        <a:defRPr sz="1000">
                          <a:solidFill>
                            <a:srgbClr val="333333"/>
                          </a:solidFill>
                        </a:defRPr>
                      </a:pPr>
                      <a:r>
                        <a:t>なし</a:t>
                      </a:r>
                    </a:p>
                  </a:txBody>
                  <a:tcPr/>
                </a:tc>
                <a:tc>
                  <a:txBody>
                    <a:bodyPr/>
                    <a:lstStyle/>
                    <a:p>
                      <a:pPr>
                        <a:defRPr sz="1000">
                          <a:solidFill>
                            <a:srgbClr val="333333"/>
                          </a:solidFill>
                        </a:defRPr>
                      </a:pPr>
                      <a:r>
                        <a:t>月次レポート</a:t>
                      </a:r>
                    </a:p>
                  </a:txBody>
                  <a:tcPr/>
                </a:tc>
              </a:tr>
              <a:tr h="365760">
                <a:tc>
                  <a:txBody>
                    <a:bodyPr/>
                    <a:lstStyle/>
                    <a:p>
                      <a:pPr>
                        <a:defRPr sz="1000">
                          <a:solidFill>
                            <a:srgbClr val="333333"/>
                          </a:solidFill>
                        </a:defRPr>
                      </a:pPr>
                      <a:r>
                        <a:t>継続性</a:t>
                      </a:r>
                    </a:p>
                  </a:txBody>
                  <a:tcPr>
                    <a:solidFill>
                      <a:srgbClr val="F5E6EA"/>
                    </a:solidFill>
                  </a:tcPr>
                </a:tc>
                <a:tc>
                  <a:txBody>
                    <a:bodyPr/>
                    <a:lstStyle/>
                    <a:p>
                      <a:pPr>
                        <a:defRPr sz="1000">
                          <a:solidFill>
                            <a:srgbClr val="333333"/>
                          </a:solidFill>
                        </a:defRPr>
                      </a:pPr>
                      <a:r>
                        <a:t>単発</a:t>
                      </a:r>
                    </a:p>
                  </a:txBody>
                  <a:tcPr>
                    <a:solidFill>
                      <a:srgbClr val="F5E6EA"/>
                    </a:solidFill>
                  </a:tcPr>
                </a:tc>
                <a:tc>
                  <a:txBody>
                    <a:bodyPr/>
                    <a:lstStyle/>
                    <a:p>
                      <a:pPr>
                        <a:defRPr sz="1000">
                          <a:solidFill>
                            <a:srgbClr val="333333"/>
                          </a:solidFill>
                        </a:defRPr>
                      </a:pPr>
                      <a:r>
                        <a:t>3〜6か月</a:t>
                      </a:r>
                    </a:p>
                  </a:txBody>
                  <a:tcPr>
                    <a:solidFill>
                      <a:srgbClr val="F5E6EA"/>
                    </a:solidFill>
                  </a:tcPr>
                </a:tc>
                <a:tc>
                  <a:txBody>
                    <a:bodyPr/>
                    <a:lstStyle/>
                    <a:p>
                      <a:pPr>
                        <a:defRPr sz="1000">
                          <a:solidFill>
                            <a:srgbClr val="333333"/>
                          </a:solidFill>
                        </a:defRPr>
                      </a:pPr>
                      <a:r>
                        <a:t>内定まで</a:t>
                      </a:r>
                    </a:p>
                  </a:txBody>
                  <a:tcPr>
                    <a:solidFill>
                      <a:srgbClr val="F5E6EA"/>
                    </a:solidFill>
                  </a:tcPr>
                </a:tc>
                <a:tc>
                  <a:txBody>
                    <a:bodyPr/>
                    <a:lstStyle/>
                    <a:p>
                      <a:pPr>
                        <a:defRPr sz="1000">
                          <a:solidFill>
                            <a:srgbClr val="333333"/>
                          </a:solidFill>
                        </a:defRPr>
                      </a:pPr>
                      <a:r>
                        <a:t>最大2年伴走</a:t>
                      </a:r>
                    </a:p>
                  </a:txBody>
                  <a:tcPr>
                    <a:solidFill>
                      <a:srgbClr val="F5E6EA"/>
                    </a:solidFill>
                  </a:tcPr>
                </a:tc>
              </a:tr>
              <a:tr h="365760">
                <a:tc>
                  <a:txBody>
                    <a:bodyPr/>
                    <a:lstStyle/>
                    <a:p>
                      <a:pPr>
                        <a:defRPr sz="1000">
                          <a:solidFill>
                            <a:srgbClr val="333333"/>
                          </a:solidFill>
                        </a:defRPr>
                      </a:pPr>
                      <a:r>
                        <a:t>運営者</a:t>
                      </a:r>
                    </a:p>
                  </a:txBody>
                  <a:tcPr/>
                </a:tc>
                <a:tc>
                  <a:txBody>
                    <a:bodyPr/>
                    <a:lstStyle/>
                    <a:p>
                      <a:pPr>
                        <a:defRPr sz="1000">
                          <a:solidFill>
                            <a:srgbClr val="333333"/>
                          </a:solidFill>
                        </a:defRPr>
                      </a:pPr>
                      <a:r>
                        <a:t>大学職員</a:t>
                      </a:r>
                    </a:p>
                  </a:txBody>
                  <a:tcPr/>
                </a:tc>
                <a:tc>
                  <a:txBody>
                    <a:bodyPr/>
                    <a:lstStyle/>
                    <a:p>
                      <a:pPr>
                        <a:defRPr sz="1000">
                          <a:solidFill>
                            <a:srgbClr val="333333"/>
                          </a:solidFill>
                        </a:defRPr>
                      </a:pPr>
                      <a:r>
                        <a:t>サラリーマン講師</a:t>
                      </a:r>
                    </a:p>
                  </a:txBody>
                  <a:tcPr/>
                </a:tc>
                <a:tc>
                  <a:txBody>
                    <a:bodyPr/>
                    <a:lstStyle/>
                    <a:p>
                      <a:pPr>
                        <a:defRPr sz="1000">
                          <a:solidFill>
                            <a:srgbClr val="333333"/>
                          </a:solidFill>
                        </a:defRPr>
                      </a:pPr>
                      <a:r>
                        <a:t>人材会社社員</a:t>
                      </a:r>
                    </a:p>
                  </a:txBody>
                  <a:tcPr/>
                </a:tc>
                <a:tc>
                  <a:txBody>
                    <a:bodyPr/>
                    <a:lstStyle/>
                    <a:p>
                      <a:pPr>
                        <a:defRPr sz="1000">
                          <a:solidFill>
                            <a:srgbClr val="333333"/>
                          </a:solidFill>
                        </a:defRPr>
                      </a:pPr>
                      <a:r>
                        <a:t>社外メンター経験者</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square">
            <a:spAutoFit/>
          </a:bodyPr>
          <a:lstStyle/>
          <a:p>
            <a:pPr algn="l">
              <a:defRPr sz="2200" b="1">
                <a:solidFill>
                  <a:srgbClr val="5A2030"/>
                </a:solidFill>
              </a:defRPr>
            </a:pPr>
            <a:r>
              <a:t>  コーチ紹介</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600"/>
              </a:spcAft>
              <a:defRPr sz="1400" b="1">
                <a:solidFill>
                  <a:srgbClr val="5A2030"/>
                </a:solidFill>
              </a:defRPr>
            </a:pPr>
            <a:r>
              <a:t>◎ 西川 舞衣子（にしかわ まいこ）</a:t>
            </a:r>
          </a:p>
          <a:p>
            <a:pPr>
              <a:spcAft>
                <a:spcPts val="600"/>
              </a:spcAft>
              <a:defRPr sz="1400">
                <a:solidFill>
                  <a:srgbClr val="333333"/>
                </a:solidFill>
              </a:defRPr>
            </a:pPr>
          </a:p>
          <a:p>
            <a:pPr>
              <a:spcAft>
                <a:spcPts val="600"/>
              </a:spcAft>
              <a:defRPr sz="1400">
                <a:solidFill>
                  <a:srgbClr val="333333"/>
                </a:solidFill>
              </a:defRPr>
            </a:pPr>
            <a:r>
              <a:t>福井県出身 / 高志高校卒</a:t>
            </a:r>
          </a:p>
          <a:p>
            <a:pPr>
              <a:spcAft>
                <a:spcPts val="600"/>
              </a:spcAft>
              <a:defRPr sz="1400">
                <a:solidFill>
                  <a:srgbClr val="333333"/>
                </a:solidFill>
              </a:defRPr>
            </a:pPr>
            <a:r>
              <a:t>デジタルハリウッド大学大学院修了</a:t>
            </a:r>
          </a:p>
          <a:p>
            <a:pPr>
              <a:spcAft>
                <a:spcPts val="600"/>
              </a:spcAft>
              <a:defRPr sz="1400">
                <a:solidFill>
                  <a:srgbClr val="333333"/>
                </a:solidFill>
              </a:defRPr>
            </a:pPr>
            <a:r>
              <a:t>労働市場などの調査を行うシンクタンクに勤務</a:t>
            </a:r>
          </a:p>
          <a:p>
            <a:pPr>
              <a:spcAft>
                <a:spcPts val="600"/>
              </a:spcAft>
              <a:defRPr sz="1400">
                <a:solidFill>
                  <a:srgbClr val="333333"/>
                </a:solidFill>
              </a:defRPr>
            </a:pPr>
            <a:r>
              <a:t>大手企業の女性活躍推進プログラムで社外メンターを務めた経験</a:t>
            </a:r>
          </a:p>
          <a:p>
            <a:pPr>
              <a:spcAft>
                <a:spcPts val="600"/>
              </a:spcAft>
              <a:defRPr sz="1400">
                <a:solidFill>
                  <a:srgbClr val="333333"/>
                </a:solidFill>
              </a:defRPr>
            </a:pPr>
            <a:r>
              <a:t>2児の母</a:t>
            </a:r>
          </a:p>
          <a:p>
            <a:pPr>
              <a:spcAft>
                <a:spcPts val="600"/>
              </a:spcAft>
              <a:defRPr sz="1400">
                <a:solidFill>
                  <a:srgbClr val="333333"/>
                </a:solidFill>
              </a:defRPr>
            </a:pPr>
          </a:p>
          <a:p>
            <a:pPr>
              <a:spcAft>
                <a:spcPts val="600"/>
              </a:spcAft>
              <a:defRPr sz="1400" b="1">
                <a:solidFill>
                  <a:srgbClr val="5A2030"/>
                </a:solidFill>
              </a:defRPr>
            </a:pPr>
            <a:r>
              <a:t>→ 福井の風土を知り、東京の就活事情も知る立場から、</a:t>
            </a:r>
          </a:p>
          <a:p>
            <a:pPr lvl="1">
              <a:spcAft>
                <a:spcPts val="600"/>
              </a:spcAft>
              <a:defRPr sz="1200">
                <a:solidFill>
                  <a:srgbClr val="333333"/>
                </a:solidFill>
              </a:defRPr>
            </a:pPr>
            <a:r>
              <a:t>地方の女子学生が「私はこう生きたい」と自分の言葉で語れるようになることを目指しています。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square">
            <a:spAutoFit/>
          </a:bodyPr>
          <a:lstStyle/>
          <a:p>
            <a:pPr algn="l">
              <a:defRPr sz="2200" b="1">
                <a:solidFill>
                  <a:srgbClr val="5A2030"/>
                </a:solidFill>
              </a:defRPr>
            </a:pPr>
            <a:r>
              <a:t>  ご利用の流れ</a:t>
            </a:r>
          </a:p>
        </p:txBody>
      </p:sp>
      <p:sp>
        <p:nvSpPr>
          <p:cNvPr id="3" name="Rectangle 2"/>
          <p:cNvSpPr/>
          <p:nvPr/>
        </p:nvSpPr>
        <p:spPr>
          <a:xfrm>
            <a:off x="457200" y="868680"/>
            <a:ext cx="8229600" cy="27432"/>
          </a:xfrm>
          <a:prstGeom prst="rect">
            <a:avLst/>
          </a:prstGeom>
          <a:solidFill>
            <a:srgbClr val="5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600"/>
              </a:spcAft>
              <a:defRPr sz="1400" b="1">
                <a:solidFill>
                  <a:srgbClr val="5A2030"/>
                </a:solidFill>
              </a:defRPr>
            </a:pPr>
            <a:r>
              <a:t>★ STEP 1：無料相談を予約</a:t>
            </a:r>
          </a:p>
          <a:p>
            <a:pPr lvl="1">
              <a:spcAft>
                <a:spcPts val="600"/>
              </a:spcAft>
              <a:defRPr sz="1200">
                <a:solidFill>
                  <a:srgbClr val="333333"/>
                </a:solidFill>
              </a:defRPr>
            </a:pPr>
            <a:r>
              <a:t>Googleカレンダーから空き日時を選ぶだけ（アカウント登録不要）</a:t>
            </a:r>
          </a:p>
          <a:p>
            <a:pPr>
              <a:spcAft>
                <a:spcPts val="600"/>
              </a:spcAft>
              <a:defRPr sz="1400">
                <a:solidFill>
                  <a:srgbClr val="333333"/>
                </a:solidFill>
              </a:defRPr>
            </a:pPr>
          </a:p>
          <a:p>
            <a:pPr>
              <a:spcAft>
                <a:spcPts val="600"/>
              </a:spcAft>
              <a:defRPr sz="1400" b="1">
                <a:solidFill>
                  <a:srgbClr val="5A2030"/>
                </a:solidFill>
              </a:defRPr>
            </a:pPr>
            <a:r>
              <a:t>★ STEP 2：初回面談（無料）</a:t>
            </a:r>
          </a:p>
          <a:p>
            <a:pPr lvl="1">
              <a:spcAft>
                <a:spcPts val="600"/>
              </a:spcAft>
              <a:defRPr sz="1200">
                <a:solidFill>
                  <a:srgbClr val="333333"/>
                </a:solidFill>
              </a:defRPr>
            </a:pPr>
            <a:r>
              <a:t>現状をヒアリングし、最適なプランをご提案</a:t>
            </a:r>
          </a:p>
          <a:p>
            <a:pPr>
              <a:spcAft>
                <a:spcPts val="600"/>
              </a:spcAft>
              <a:defRPr sz="1400">
                <a:solidFill>
                  <a:srgbClr val="333333"/>
                </a:solidFill>
              </a:defRPr>
            </a:pPr>
          </a:p>
          <a:p>
            <a:pPr>
              <a:spcAft>
                <a:spcPts val="600"/>
              </a:spcAft>
              <a:defRPr sz="1400" b="1">
                <a:solidFill>
                  <a:srgbClr val="5A2030"/>
                </a:solidFill>
              </a:defRPr>
            </a:pPr>
            <a:r>
              <a:t>★ STEP 3：プランを選んでスタート</a:t>
            </a:r>
          </a:p>
          <a:p>
            <a:pPr lvl="1">
              <a:spcAft>
                <a:spcPts val="600"/>
              </a:spcAft>
              <a:defRPr sz="1200">
                <a:solidFill>
                  <a:srgbClr val="333333"/>
                </a:solidFill>
              </a:defRPr>
            </a:pPr>
            <a:r>
              <a:t>お支払いはクレジットカード / Apple Pay / Google Pay</a:t>
            </a:r>
          </a:p>
          <a:p>
            <a:pPr>
              <a:spcAft>
                <a:spcPts val="600"/>
              </a:spcAft>
              <a:defRPr sz="1400">
                <a:solidFill>
                  <a:srgbClr val="333333"/>
                </a:solidFill>
              </a:defRPr>
            </a:pPr>
          </a:p>
          <a:p>
            <a:pPr>
              <a:spcAft>
                <a:spcPts val="600"/>
              </a:spcAft>
              <a:defRPr sz="1400" b="1">
                <a:solidFill>
                  <a:srgbClr val="5A2030"/>
                </a:solidFill>
              </a:defRPr>
            </a:pPr>
            <a:r>
              <a:t>★ STEP 4：定期面談で伴走</a:t>
            </a:r>
          </a:p>
          <a:p>
            <a:pPr lvl="1">
              <a:spcAft>
                <a:spcPts val="600"/>
              </a:spcAft>
              <a:defRPr sz="1200">
                <a:solidFill>
                  <a:srgbClr val="333333"/>
                </a:solidFill>
              </a:defRPr>
            </a:pPr>
            <a:r>
              <a:t>一緒に「あなたの言葉」を見つけていきます</a:t>
            </a:r>
          </a:p>
          <a:p/>
          <a:p>
            <a:pPr>
              <a:defRPr sz="1100" i="1">
                <a:solidFill>
                  <a:srgbClr val="888888"/>
                </a:solidFill>
              </a:defRPr>
            </a:pPr>
            <a:r>
              <a:t>無理な勧誘は一切しません。まずはお気軽にご相談ください。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A3045"/>
        </a:solidFill>
        <a:effectLst/>
      </p:bgPr>
    </p:bg>
    <p:spTree>
      <p:nvGrpSpPr>
        <p:cNvPr id="1" name=""/>
        <p:cNvGrpSpPr/>
        <p:nvPr/>
      </p:nvGrpSpPr>
      <p:grpSpPr/>
      <p:sp>
        <p:nvSpPr>
          <p:cNvPr id="2" name="TextBox 1"/>
          <p:cNvSpPr txBox="1"/>
          <p:nvPr/>
        </p:nvSpPr>
        <p:spPr>
          <a:xfrm>
            <a:off x="731520" y="2286000"/>
            <a:ext cx="7680960" cy="1371600"/>
          </a:xfrm>
          <a:prstGeom prst="rect">
            <a:avLst/>
          </a:prstGeom>
          <a:noFill/>
        </p:spPr>
        <p:txBody>
          <a:bodyPr wrap="none">
            <a:spAutoFit/>
          </a:bodyPr>
          <a:lstStyle/>
          <a:p>
            <a:pPr algn="ctr">
              <a:defRPr sz="2800" b="1">
                <a:solidFill>
                  <a:srgbClr val="FFFFFF"/>
                </a:solidFill>
              </a:defRPr>
            </a:pPr>
            <a:r>
              <a:t>まずは無料で相談してみませんか？</a:t>
            </a:r>
          </a:p>
        </p:txBody>
      </p:sp>
      <p:sp>
        <p:nvSpPr>
          <p:cNvPr id="3" name="TextBox 2"/>
          <p:cNvSpPr txBox="1"/>
          <p:nvPr/>
        </p:nvSpPr>
        <p:spPr>
          <a:xfrm>
            <a:off x="731520" y="3657600"/>
            <a:ext cx="7680960" cy="2286000"/>
          </a:xfrm>
          <a:prstGeom prst="rect">
            <a:avLst/>
          </a:prstGeom>
          <a:noFill/>
        </p:spPr>
        <p:txBody>
          <a:bodyPr wrap="square">
            <a:spAutoFit/>
          </a:bodyPr>
          <a:lstStyle/>
          <a:p>
            <a:pPr algn="ctr">
              <a:spcAft>
                <a:spcPts val="800"/>
              </a:spcAft>
              <a:defRPr sz="1400">
                <a:solidFill>
                  <a:srgbClr val="E8A0A8"/>
                </a:solidFill>
              </a:defRPr>
            </a:pPr>
            <a:r>
              <a:t>LP: https://mai-san447.github.io/hanasaku-career/</a:t>
            </a:r>
          </a:p>
          <a:p>
            <a:pPr algn="ctr">
              <a:spcAft>
                <a:spcPts val="800"/>
              </a:spcAft>
              <a:defRPr sz="1400">
                <a:solidFill>
                  <a:srgbClr val="E8A0A8"/>
                </a:solidFill>
              </a:defRPr>
            </a:pPr>
            <a:r>
              <a:t>無料相談予約: https://calendar.app.google/u8SkpMApaMfaRoSx6</a:t>
            </a:r>
          </a:p>
          <a:p>
            <a:pPr algn="ctr">
              <a:spcAft>
                <a:spcPts val="800"/>
              </a:spcAft>
              <a:defRPr sz="1400">
                <a:solidFill>
                  <a:srgbClr val="E8A0A8"/>
                </a:solidFill>
              </a:defRPr>
            </a:pPr>
            <a:r>
              <a:t>LINE公式: https://lin.ee/qURXYyS</a:t>
            </a:r>
          </a:p>
          <a:p>
            <a:pPr algn="ctr">
              <a:spcAft>
                <a:spcPts val="800"/>
              </a:spcAft>
              <a:defRPr sz="1100">
                <a:solidFill>
                  <a:srgbClr val="888888"/>
                </a:solidFill>
              </a:defRPr>
            </a:pPr>
          </a:p>
          <a:p>
            <a:pPr algn="ctr">
              <a:spcAft>
                <a:spcPts val="800"/>
              </a:spcAft>
              <a:defRPr sz="1100">
                <a:solidFill>
                  <a:srgbClr val="888888"/>
                </a:solidFill>
              </a:defRPr>
            </a:pPr>
            <a:r>
              <a:t>© 2026 ハナサク / EMKO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