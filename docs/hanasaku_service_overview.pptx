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0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858000" y="457200"/>
            <a:ext cx="2286000" cy="2286000"/>
          </a:xfrm>
          <a:prstGeom prst="ellipse">
            <a:avLst/>
          </a:prstGeom>
          <a:solidFill>
            <a:srgbClr val="F5E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5029200"/>
            <a:ext cx="1645920" cy="1645920"/>
          </a:xfrm>
          <a:prstGeom prst="ellipse">
            <a:avLst/>
          </a:prstGeom>
          <a:solidFill>
            <a:srgbClr val="FA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6600"/>
              </a:lnSpc>
              <a:defRPr sz="4400" b="1">
                <a:solidFill>
                  <a:srgbClr val="C06070"/>
                </a:solidFill>
              </a:defRPr>
            </a:pPr>
            <a:r>
              <a:t>ハナサク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defRPr sz="1600" b="0">
                <a:solidFill>
                  <a:srgbClr val="3A3A3A"/>
                </a:solidFill>
              </a:defRPr>
            </a:pPr>
            <a:r>
              <a:t>福井の女の子が、自分の言葉で未来を語れるようになる就活伴走サービス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400" b="0">
                <a:solidFill>
                  <a:srgbClr val="888888"/>
                </a:solidFill>
              </a:defRPr>
            </a:pPr>
            <a:r>
              <a:t>サービス紹介資料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defRPr sz="1100" b="0">
                <a:solidFill>
                  <a:srgbClr val="888888"/>
                </a:solidFill>
              </a:defRPr>
            </a:pPr>
            <a:r>
              <a:t>西川 舞衣子（EMKO）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0840"/>
            <a:ext cx="9144000" cy="137160"/>
          </a:xfrm>
          <a:prstGeom prst="rect">
            <a:avLst/>
          </a:prstGeom>
          <a:solidFill>
            <a:srgbClr val="C0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C0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defRPr sz="2000" b="1">
                <a:solidFill>
                  <a:srgbClr val="FFFFFF"/>
                </a:solidFill>
              </a:defRPr>
            </a:pPr>
            <a:r>
              <a:t>サービス概要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20"/>
              </a:lnSpc>
              <a:defRPr sz="1400" b="0">
                <a:solidFill>
                  <a:srgbClr val="3A3A3A"/>
                </a:solidFill>
              </a:defRPr>
            </a:pPr>
            <a:r>
              <a:t>「ハナサク」は、福井県の女子学生とその保護者を対象とした</a:t>
            </a:r>
          </a:p>
          <a:p>
            <a:pPr algn="l">
              <a:lnSpc>
                <a:spcPts val="2520"/>
              </a:lnSpc>
              <a:defRPr sz="1400" b="0">
                <a:solidFill>
                  <a:srgbClr val="3A3A3A"/>
                </a:solidFill>
              </a:defRPr>
            </a:pPr>
            <a:r>
              <a:t>オンライン就活伴走コーチングサービスです。</a:t>
            </a:r>
          </a:p>
          <a:p>
            <a:pPr algn="l">
              <a:lnSpc>
                <a:spcPts val="2520"/>
              </a:lnSpc>
              <a:defRPr sz="1400" b="0">
                <a:solidFill>
                  <a:srgbClr val="3A3A3A"/>
                </a:solidFill>
              </a:defRPr>
            </a:pPr>
          </a:p>
          <a:p>
            <a:pPr algn="l">
              <a:lnSpc>
                <a:spcPts val="2520"/>
              </a:lnSpc>
              <a:defRPr sz="1400" b="0">
                <a:solidFill>
                  <a:srgbClr val="3A3A3A"/>
                </a:solidFill>
              </a:defRPr>
            </a:pPr>
            <a:r>
              <a:t>就活塾でもエージェントでもない、あなたの「伴走者」として、</a:t>
            </a:r>
          </a:p>
          <a:p>
            <a:pPr algn="l">
              <a:lnSpc>
                <a:spcPts val="2520"/>
              </a:lnSpc>
              <a:defRPr sz="1400" b="0">
                <a:solidFill>
                  <a:srgbClr val="3A3A3A"/>
                </a:solidFill>
              </a:defRPr>
            </a:pPr>
            <a:r>
              <a:t>面接対策から親御さんへの進捗レポートまで一貫してサポートします。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657600"/>
            <a:ext cx="3657600" cy="2011680"/>
          </a:xfrm>
          <a:prstGeom prst="rect">
            <a:avLst/>
          </a:prstGeom>
          <a:solidFill>
            <a:srgbClr val="F5E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400" b="1">
                <a:solidFill>
                  <a:srgbClr val="9A4050"/>
                </a:solidFill>
              </a:defRPr>
            </a:pPr>
            <a:r>
              <a:t>就活伴走コーチング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8912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80"/>
              </a:lnSpc>
              <a:defRPr sz="1100" b="0">
                <a:solidFill>
                  <a:srgbClr val="3A3A3A"/>
                </a:solidFill>
              </a:defRPr>
            </a:pPr>
            <a:r>
              <a:t>対象: 女子学生 + 保護者</a:t>
            </a:r>
          </a:p>
          <a:p>
            <a:pPr algn="l">
              <a:lnSpc>
                <a:spcPts val="1980"/>
              </a:lnSpc>
              <a:defRPr sz="1100" b="0">
                <a:solidFill>
                  <a:srgbClr val="3A3A3A"/>
                </a:solidFill>
              </a:defRPr>
            </a:pPr>
            <a:r>
              <a:t>形式: オンライン面談（30分）</a:t>
            </a:r>
          </a:p>
          <a:p>
            <a:pPr algn="l">
              <a:lnSpc>
                <a:spcPts val="1980"/>
              </a:lnSpc>
              <a:defRPr sz="1100" b="0">
                <a:solidFill>
                  <a:srgbClr val="3A3A3A"/>
                </a:solidFill>
              </a:defRPr>
            </a:pPr>
            <a:r>
              <a:t>LINE質問対応・月次レポート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7760" y="3657600"/>
            <a:ext cx="3657600" cy="2011680"/>
          </a:xfrm>
          <a:prstGeom prst="rect">
            <a:avLst/>
          </a:prstGeom>
          <a:solidFill>
            <a:srgbClr val="F5E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0" y="38404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400" b="1">
                <a:solidFill>
                  <a:srgbClr val="9A4050"/>
                </a:solidFill>
              </a:defRPr>
            </a:pPr>
            <a:r>
              <a:t>女性リーダー向けメンタリング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438912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80"/>
              </a:lnSpc>
              <a:defRPr sz="1100" b="0">
                <a:solidFill>
                  <a:srgbClr val="3A3A3A"/>
                </a:solidFill>
              </a:defRPr>
            </a:pPr>
            <a:r>
              <a:t>対象: 管理職・リーダー候補の女性</a:t>
            </a:r>
          </a:p>
          <a:p>
            <a:pPr algn="l">
              <a:lnSpc>
                <a:spcPts val="1980"/>
              </a:lnSpc>
              <a:defRPr sz="1100" b="0">
                <a:solidFill>
                  <a:srgbClr val="3A3A3A"/>
                </a:solidFill>
              </a:defRPr>
            </a:pPr>
            <a:r>
              <a:t>形式: オンライン1on1（45分）</a:t>
            </a:r>
          </a:p>
          <a:p>
            <a:pPr algn="l">
              <a:lnSpc>
                <a:spcPts val="1980"/>
              </a:lnSpc>
              <a:defRPr sz="1100" b="0">
                <a:solidFill>
                  <a:srgbClr val="3A3A3A"/>
                </a:solidFill>
              </a:defRPr>
            </a:pPr>
            <a:r>
              <a:t>キャリア相談・壁打ち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C0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defRPr sz="2000" b="1">
                <a:solidFill>
                  <a:srgbClr val="FFFFFF"/>
                </a:solidFill>
              </a:defRPr>
            </a:pPr>
            <a:r>
              <a:t>こんな悩み、ありませんか？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3931920" cy="2377440"/>
          </a:xfrm>
          <a:prstGeom prst="rect">
            <a:avLst/>
          </a:prstGeom>
          <a:solidFill>
            <a:srgbClr val="FD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defRPr sz="1300" b="1">
                <a:solidFill>
                  <a:srgbClr val="C06070"/>
                </a:solidFill>
              </a:defRPr>
            </a:pPr>
            <a:r>
              <a:t>学生さん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3566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80"/>
              </a:lnSpc>
              <a:defRPr sz="1100" b="0">
                <a:solidFill>
                  <a:srgbClr val="3A3A3A"/>
                </a:solidFill>
              </a:defRPr>
            </a:pPr>
            <a:r>
              <a:t>・キャリアセンターの面談が表面的</a:t>
            </a:r>
          </a:p>
          <a:p>
            <a:pPr algn="l">
              <a:lnSpc>
                <a:spcPts val="1980"/>
              </a:lnSpc>
              <a:defRPr sz="1100" b="0">
                <a:solidFill>
                  <a:srgbClr val="3A3A3A"/>
                </a:solidFill>
              </a:defRPr>
            </a:pPr>
            <a:r>
              <a:t>・東京の就活塾は高すぎて通えない</a:t>
            </a:r>
          </a:p>
          <a:p>
            <a:pPr algn="l">
              <a:lnSpc>
                <a:spcPts val="1980"/>
              </a:lnSpc>
              <a:defRPr sz="1100" b="0">
                <a:solidFill>
                  <a:srgbClr val="3A3A3A"/>
                </a:solidFill>
              </a:defRPr>
            </a:pPr>
            <a:r>
              <a:t>・面接で「結婚は？」と聞かれたら…</a:t>
            </a:r>
          </a:p>
          <a:p>
            <a:pPr algn="l">
              <a:lnSpc>
                <a:spcPts val="1980"/>
              </a:lnSpc>
              <a:defRPr sz="1100" b="0">
                <a:solidFill>
                  <a:srgbClr val="3A3A3A"/>
                </a:solidFill>
              </a:defRPr>
            </a:pPr>
            <a:r>
              <a:t>・地元に残るか東京に出るか相談できない</a:t>
            </a:r>
          </a:p>
        </p:txBody>
      </p:sp>
      <p:sp>
        <p:nvSpPr>
          <p:cNvPr id="7" name="Rectangle 6"/>
          <p:cNvSpPr/>
          <p:nvPr/>
        </p:nvSpPr>
        <p:spPr>
          <a:xfrm>
            <a:off x="4846320" y="1097280"/>
            <a:ext cx="3931920" cy="2377440"/>
          </a:xfrm>
          <a:prstGeom prst="rect">
            <a:avLst/>
          </a:prstGeom>
          <a:solidFill>
            <a:srgbClr val="E6F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123444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defRPr sz="1300" b="1">
                <a:solidFill>
                  <a:srgbClr val="5A7A6A"/>
                </a:solidFill>
              </a:defRPr>
            </a:pPr>
            <a:r>
              <a:t>親御さん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645920"/>
            <a:ext cx="3566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80"/>
              </a:lnSpc>
              <a:defRPr sz="1100" b="0">
                <a:solidFill>
                  <a:srgbClr val="3A3A3A"/>
                </a:solidFill>
              </a:defRPr>
            </a:pPr>
            <a:r>
              <a:t>・子供の就活状況が見えず不安</a:t>
            </a:r>
          </a:p>
          <a:p>
            <a:pPr algn="l">
              <a:lnSpc>
                <a:spcPts val="1980"/>
              </a:lnSpc>
              <a:defRPr sz="1100" b="0">
                <a:solidFill>
                  <a:srgbClr val="3A3A3A"/>
                </a:solidFill>
              </a:defRPr>
            </a:pPr>
            <a:r>
              <a:t>・自分たちの時代と就活が違いすぎる</a:t>
            </a:r>
          </a:p>
          <a:p>
            <a:pPr algn="l">
              <a:lnSpc>
                <a:spcPts val="1980"/>
              </a:lnSpc>
              <a:defRPr sz="1100" b="0">
                <a:solidFill>
                  <a:srgbClr val="3A3A3A"/>
                </a:solidFill>
              </a:defRPr>
            </a:pPr>
            <a:r>
              <a:t>・キャリアセンターだけで大丈夫？</a:t>
            </a:r>
          </a:p>
          <a:p>
            <a:pPr algn="l">
              <a:lnSpc>
                <a:spcPts val="1980"/>
              </a:lnSpc>
              <a:defRPr sz="1100" b="0">
                <a:solidFill>
                  <a:srgbClr val="3A3A3A"/>
                </a:solidFill>
              </a:defRPr>
            </a:pPr>
            <a:r>
              <a:t>・「オヤカク」文化、どう関わるべき？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840480"/>
            <a:ext cx="8412480" cy="2011680"/>
          </a:xfrm>
          <a:prstGeom prst="rect">
            <a:avLst/>
          </a:prstGeom>
          <a:solidFill>
            <a:srgbClr val="F0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977639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defRPr sz="1300" b="1">
                <a:solidFill>
                  <a:srgbClr val="7A5A8A"/>
                </a:solidFill>
              </a:defRPr>
            </a:pPr>
            <a:r>
              <a:t>女性リーダー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38912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80"/>
              </a:lnSpc>
              <a:defRPr sz="1100" b="0">
                <a:solidFill>
                  <a:srgbClr val="3A3A3A"/>
                </a:solidFill>
              </a:defRPr>
            </a:pPr>
            <a:r>
              <a:t>・管理職になったが相談相手がいない</a:t>
            </a:r>
          </a:p>
          <a:p>
            <a:pPr algn="l">
              <a:lnSpc>
                <a:spcPts val="1980"/>
              </a:lnSpc>
              <a:defRPr sz="1100" b="0">
                <a:solidFill>
                  <a:srgbClr val="3A3A3A"/>
                </a:solidFill>
              </a:defRPr>
            </a:pPr>
            <a:r>
              <a:t>・チームマネジメントや社内政治で壁を感じる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38912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80"/>
              </a:lnSpc>
              <a:defRPr sz="1100" b="0">
                <a:solidFill>
                  <a:srgbClr val="3A3A3A"/>
                </a:solidFill>
              </a:defRPr>
            </a:pPr>
            <a:r>
              <a:t>・仕事とライフイベントの両立に悩んでいる</a:t>
            </a:r>
          </a:p>
          <a:p>
            <a:pPr algn="l">
              <a:lnSpc>
                <a:spcPts val="1980"/>
              </a:lnSpc>
              <a:defRPr sz="1100" b="0">
                <a:solidFill>
                  <a:srgbClr val="3A3A3A"/>
                </a:solidFill>
              </a:defRPr>
            </a:pPr>
            <a:r>
              <a:t>・女性リーダーとしてのロールモデルが少ない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C0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defRPr sz="2000" b="1">
                <a:solidFill>
                  <a:srgbClr val="FFFFFF"/>
                </a:solidFill>
              </a:defRPr>
            </a:pPr>
            <a:r>
              <a:t>ハナサクの3つの特徴</a:t>
            </a:r>
          </a:p>
        </p:txBody>
      </p:sp>
      <p:sp>
        <p:nvSpPr>
          <p:cNvPr id="4" name="Oval 3"/>
          <p:cNvSpPr/>
          <p:nvPr/>
        </p:nvSpPr>
        <p:spPr>
          <a:xfrm>
            <a:off x="1188720" y="1097280"/>
            <a:ext cx="640080" cy="640080"/>
          </a:xfrm>
          <a:prstGeom prst="ellipse">
            <a:avLst/>
          </a:prstGeom>
          <a:solidFill>
            <a:srgbClr val="C0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01168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50"/>
              </a:lnSpc>
              <a:defRPr sz="1300" b="1">
                <a:solidFill>
                  <a:srgbClr val="9A4050"/>
                </a:solidFill>
              </a:defRPr>
            </a:pPr>
            <a:r>
              <a:t>福井出身コーチによる</a:t>
            </a:r>
            <a:br/>
            <a:r>
              <a:t>1on1面談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01752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defRPr sz="1000" b="0">
                <a:solidFill>
                  <a:srgbClr val="3A3A3A"/>
                </a:solidFill>
              </a:defRPr>
            </a:pPr>
            <a:r>
              <a:t>福井県出身・高志高校卒のコーチが、</a:t>
            </a:r>
            <a:br/>
            <a:r>
              <a:t>地元の空気感を理解した上で</a:t>
            </a:r>
            <a:br/>
            <a:r>
              <a:t>あなたの言葉を引き出します。</a:t>
            </a:r>
            <a:br/>
            <a:r>
              <a:t>オンライン（Google Meet）で全国対応。</a:t>
            </a:r>
          </a:p>
        </p:txBody>
      </p:sp>
      <p:sp>
        <p:nvSpPr>
          <p:cNvPr id="7" name="Oval 6"/>
          <p:cNvSpPr/>
          <p:nvPr/>
        </p:nvSpPr>
        <p:spPr>
          <a:xfrm>
            <a:off x="4023360" y="1097280"/>
            <a:ext cx="640080" cy="640080"/>
          </a:xfrm>
          <a:prstGeom prst="ellipse">
            <a:avLst/>
          </a:prstGeom>
          <a:solidFill>
            <a:srgbClr val="C0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01168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50"/>
              </a:lnSpc>
              <a:defRPr sz="1300" b="1">
                <a:solidFill>
                  <a:srgbClr val="9A4050"/>
                </a:solidFill>
              </a:defRPr>
            </a:pPr>
            <a:r>
              <a:t>親子で安心の</a:t>
            </a:r>
            <a:br/>
            <a:r>
              <a:t>伴走型サポート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301752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defRPr sz="1000" b="0">
                <a:solidFill>
                  <a:srgbClr val="3A3A3A"/>
                </a:solidFill>
              </a:defRPr>
            </a:pPr>
            <a:r>
              <a:t>長期プランでは親御さんへの</a:t>
            </a:r>
            <a:br/>
            <a:r>
              <a:t>月次レポートを標準提供。</a:t>
            </a:r>
            <a:br/>
            <a:r>
              <a:t>お子さんの成長・計画・お願い事項を</a:t>
            </a:r>
            <a:br/>
            <a:r>
              <a:t>お伝えします。プライバシーは厳守。</a:t>
            </a:r>
          </a:p>
        </p:txBody>
      </p:sp>
      <p:sp>
        <p:nvSpPr>
          <p:cNvPr id="10" name="Oval 9"/>
          <p:cNvSpPr/>
          <p:nvPr/>
        </p:nvSpPr>
        <p:spPr>
          <a:xfrm>
            <a:off x="6858000" y="1097280"/>
            <a:ext cx="640080" cy="640080"/>
          </a:xfrm>
          <a:prstGeom prst="ellipse">
            <a:avLst/>
          </a:prstGeom>
          <a:solidFill>
            <a:srgbClr val="C0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201168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50"/>
              </a:lnSpc>
              <a:defRPr sz="1300" b="1">
                <a:solidFill>
                  <a:srgbClr val="9A4050"/>
                </a:solidFill>
              </a:defRPr>
            </a:pPr>
            <a:r>
              <a:t>女子学生専門</a:t>
            </a:r>
            <a:br/>
            <a:r>
              <a:t>だからできること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301752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defRPr sz="1000" b="0">
                <a:solidFill>
                  <a:srgbClr val="3A3A3A"/>
                </a:solidFill>
              </a:defRPr>
            </a:pPr>
            <a:r>
              <a:t>社外メンター経験を活かし、</a:t>
            </a:r>
            <a:br/>
            <a:r>
              <a:t>女子学生特有の悩みに寄り添います。</a:t>
            </a:r>
            <a:br/>
            <a:r>
              <a:t>外見への言及、ライフプランへの圧、</a:t>
            </a:r>
            <a:br/>
            <a:r>
              <a:t>自己主張への抵抗感にも対応。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C0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defRPr sz="2000" b="1">
                <a:solidFill>
                  <a:srgbClr val="FFFFFF"/>
                </a:solidFill>
              </a:defRPr>
            </a:pPr>
            <a:r>
              <a:t>料金プラン｜就活伴走コーチング（30分/回）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97280"/>
          <a:ext cx="79552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3383280"/>
                <a:gridCol w="13716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プラン</a:t>
                      </a:r>
                    </a:p>
                  </a:txBody>
                  <a:tcPr>
                    <a:solidFill>
                      <a:srgbClr val="C060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料金（税込）</a:t>
                      </a:r>
                    </a:p>
                  </a:txBody>
                  <a:tcPr>
                    <a:solidFill>
                      <a:srgbClr val="C060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C060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1回あたり</a:t>
                      </a:r>
                    </a:p>
                  </a:txBody>
                  <a:tcPr>
                    <a:solidFill>
                      <a:srgbClr val="C0607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都度払い</a:t>
                      </a:r>
                    </a:p>
                  </a:txBody>
                  <a:tcPr>
                    <a:solidFill>
                      <a:srgbClr val="F5E6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3,000円/回</a:t>
                      </a:r>
                    </a:p>
                  </a:txBody>
                  <a:tcPr>
                    <a:solidFill>
                      <a:srgbClr val="F5E6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オンライン面談 1回</a:t>
                      </a:r>
                    </a:p>
                  </a:txBody>
                  <a:tcPr>
                    <a:solidFill>
                      <a:srgbClr val="F5E6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3,000円</a:t>
                      </a:r>
                    </a:p>
                  </a:txBody>
                  <a:tcPr>
                    <a:solidFill>
                      <a:srgbClr val="F5E6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4回チケット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10,000円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好きなタイミングで4回（有効期限3か月）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2,500円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3か月伴走プラン</a:t>
                      </a:r>
                    </a:p>
                  </a:txBody>
                  <a:tcPr>
                    <a:solidFill>
                      <a:srgbClr val="F5E6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15,000円</a:t>
                      </a:r>
                    </a:p>
                  </a:txBody>
                  <a:tcPr>
                    <a:solidFill>
                      <a:srgbClr val="F5E6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月2回×3か月（計6回）+ LINE質問対応</a:t>
                      </a:r>
                    </a:p>
                  </a:txBody>
                  <a:tcPr>
                    <a:solidFill>
                      <a:srgbClr val="F5E6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2,500円</a:t>
                      </a:r>
                    </a:p>
                  </a:txBody>
                  <a:tcPr>
                    <a:solidFill>
                      <a:srgbClr val="F5E6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6か月伴走プラン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27,000円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月2回×6か月（計12回）+ LINE + 月次レポート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2,250円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C0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defRPr sz="2000" b="1">
                <a:solidFill>
                  <a:srgbClr val="FFFFFF"/>
                </a:solidFill>
              </a:defRPr>
            </a:pPr>
            <a:r>
              <a:t>料金プラン｜女性リーダー向けメンタリング（45分/回）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97280"/>
          <a:ext cx="79552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3383280"/>
                <a:gridCol w="13716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プラン</a:t>
                      </a:r>
                    </a:p>
                  </a:txBody>
                  <a:tcPr>
                    <a:solidFill>
                      <a:srgbClr val="C060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料金（税込）</a:t>
                      </a:r>
                    </a:p>
                  </a:txBody>
                  <a:tcPr>
                    <a:solidFill>
                      <a:srgbClr val="C060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C060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1回あたり</a:t>
                      </a:r>
                    </a:p>
                  </a:txBody>
                  <a:tcPr>
                    <a:solidFill>
                      <a:srgbClr val="C0607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都度払い</a:t>
                      </a:r>
                    </a:p>
                  </a:txBody>
                  <a:tcPr>
                    <a:solidFill>
                      <a:srgbClr val="F5E6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4,000円/回</a:t>
                      </a:r>
                    </a:p>
                  </a:txBody>
                  <a:tcPr>
                    <a:solidFill>
                      <a:srgbClr val="F5E6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オンライン1on1 1回</a:t>
                      </a:r>
                    </a:p>
                  </a:txBody>
                  <a:tcPr>
                    <a:solidFill>
                      <a:srgbClr val="F5E6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4,000円</a:t>
                      </a:r>
                    </a:p>
                  </a:txBody>
                  <a:tcPr>
                    <a:solidFill>
                      <a:srgbClr val="F5E6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3か月プラン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20,000円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月2回×3か月（計6回）+ LINE相談対応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約3,300円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20040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defRPr sz="1200" b="1">
                <a:solidFill>
                  <a:srgbClr val="9A4050"/>
                </a:solidFill>
              </a:defRPr>
            </a:pPr>
            <a:r>
              <a:t>・初回面談は無料</a:t>
            </a:r>
          </a:p>
          <a:p>
            <a:pPr algn="l">
              <a:lnSpc>
                <a:spcPts val="2400"/>
              </a:lnSpc>
              <a:defRPr sz="1200" b="1">
                <a:solidFill>
                  <a:srgbClr val="9A4050"/>
                </a:solidFill>
              </a:defRPr>
            </a:pPr>
            <a:r>
              <a:t>・お友達紹介で、紹介した方・された方どちらも次回1,000円OFF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C0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defRPr sz="2000" b="1">
                <a:solidFill>
                  <a:srgbClr val="FFFFFF"/>
                </a:solidFill>
              </a:defRPr>
            </a:pPr>
            <a:r>
              <a:t>他の就活サービスとの違い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97280"/>
          <a:ext cx="84124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828800"/>
                <a:gridCol w="1828800"/>
                <a:gridCol w="182880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C060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大学キャリアセンター</a:t>
                      </a:r>
                    </a:p>
                  </a:txBody>
                  <a:tcPr>
                    <a:solidFill>
                      <a:srgbClr val="C060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就活塾（東京系）</a:t>
                      </a:r>
                    </a:p>
                  </a:txBody>
                  <a:tcPr>
                    <a:solidFill>
                      <a:srgbClr val="C060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就活エージェント</a:t>
                      </a:r>
                    </a:p>
                  </a:txBody>
                  <a:tcPr>
                    <a:solidFill>
                      <a:srgbClr val="C0607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ハナサク</a:t>
                      </a:r>
                    </a:p>
                  </a:txBody>
                  <a:tcPr>
                    <a:solidFill>
                      <a:srgbClr val="C0607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料金</a:t>
                      </a:r>
                    </a:p>
                  </a:txBody>
                  <a:tcPr>
                    <a:solidFill>
                      <a:srgbClr val="F5E6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無料</a:t>
                      </a:r>
                    </a:p>
                  </a:txBody>
                  <a:tcPr>
                    <a:solidFill>
                      <a:srgbClr val="F5E6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15〜40万円</a:t>
                      </a:r>
                    </a:p>
                  </a:txBody>
                  <a:tcPr>
                    <a:solidFill>
                      <a:srgbClr val="F5E6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無料</a:t>
                      </a:r>
                    </a:p>
                  </a:txBody>
                  <a:tcPr>
                    <a:solidFill>
                      <a:srgbClr val="F5E6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3,000円/回〜</a:t>
                      </a:r>
                    </a:p>
                  </a:txBody>
                  <a:tcPr>
                    <a:solidFill>
                      <a:srgbClr val="F5E6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地方対応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各大学内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東京圏中心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オンライン可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福井特化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女子特化</a:t>
                      </a:r>
                    </a:p>
                  </a:txBody>
                  <a:tcPr>
                    <a:solidFill>
                      <a:srgbClr val="F5E6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なし</a:t>
                      </a:r>
                    </a:p>
                  </a:txBody>
                  <a:tcPr>
                    <a:solidFill>
                      <a:srgbClr val="F5E6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なし</a:t>
                      </a:r>
                    </a:p>
                  </a:txBody>
                  <a:tcPr>
                    <a:solidFill>
                      <a:srgbClr val="F5E6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一部あり</a:t>
                      </a:r>
                    </a:p>
                  </a:txBody>
                  <a:tcPr>
                    <a:solidFill>
                      <a:srgbClr val="F5E6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専門</a:t>
                      </a:r>
                    </a:p>
                  </a:txBody>
                  <a:tcPr>
                    <a:solidFill>
                      <a:srgbClr val="F5E6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親への対応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なし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なし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なし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月次レポート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継続性</a:t>
                      </a:r>
                    </a:p>
                  </a:txBody>
                  <a:tcPr>
                    <a:solidFill>
                      <a:srgbClr val="F5E6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単発</a:t>
                      </a:r>
                    </a:p>
                  </a:txBody>
                  <a:tcPr>
                    <a:solidFill>
                      <a:srgbClr val="F5E6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3〜6か月</a:t>
                      </a:r>
                    </a:p>
                  </a:txBody>
                  <a:tcPr>
                    <a:solidFill>
                      <a:srgbClr val="F5E6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内定まで</a:t>
                      </a:r>
                    </a:p>
                  </a:txBody>
                  <a:tcPr>
                    <a:solidFill>
                      <a:srgbClr val="F5E6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最大2年伴走</a:t>
                      </a:r>
                    </a:p>
                  </a:txBody>
                  <a:tcPr>
                    <a:solidFill>
                      <a:srgbClr val="F5E6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運営者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大学職員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サラリーマン講師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人材会社社員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A3A3A"/>
                          </a:solidFill>
                        </a:defRPr>
                      </a:pPr>
                      <a:r>
                        <a:t>社外メンター経験者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C0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defRPr sz="2000" b="1">
                <a:solidFill>
                  <a:srgbClr val="FFFFFF"/>
                </a:solidFill>
              </a:defRPr>
            </a:pPr>
            <a:r>
              <a:t>コーチ紹介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8046720" cy="4114800"/>
          </a:xfrm>
          <a:prstGeom prst="rect">
            <a:avLst/>
          </a:prstGeom>
          <a:solidFill>
            <a:srgbClr val="FDF8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defRPr sz="2000" b="1">
                <a:solidFill>
                  <a:srgbClr val="9A4050"/>
                </a:solidFill>
              </a:defRPr>
            </a:pPr>
            <a:r>
              <a:t>西川 舞衣子（にしかわ まいこ）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200" b="0">
                <a:solidFill>
                  <a:srgbClr val="888888"/>
                </a:solidFill>
              </a:defRPr>
            </a:pPr>
            <a:r>
              <a:t>ハナサク代表 / EMKO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80"/>
              </a:lnSpc>
              <a:defRPr sz="1100" b="0">
                <a:solidFill>
                  <a:srgbClr val="3A3A3A"/>
                </a:solidFill>
              </a:defRPr>
            </a:pPr>
            <a:r>
              <a:t>福井県出身。高志高校卒業後、東京でキャリアを積み、</a:t>
            </a:r>
          </a:p>
          <a:p>
            <a:pPr algn="l">
              <a:lnSpc>
                <a:spcPts val="1980"/>
              </a:lnSpc>
              <a:defRPr sz="1100" b="0">
                <a:solidFill>
                  <a:srgbClr val="3A3A3A"/>
                </a:solidFill>
              </a:defRPr>
            </a:pPr>
            <a:r>
              <a:t>デジタルハリウッド大学大学院修了。</a:t>
            </a:r>
          </a:p>
          <a:p>
            <a:pPr algn="l">
              <a:lnSpc>
                <a:spcPts val="1980"/>
              </a:lnSpc>
              <a:defRPr sz="1100" b="0">
                <a:solidFill>
                  <a:srgbClr val="3A3A3A"/>
                </a:solidFill>
              </a:defRPr>
            </a:pPr>
          </a:p>
          <a:p>
            <a:pPr algn="l">
              <a:lnSpc>
                <a:spcPts val="1980"/>
              </a:lnSpc>
              <a:defRPr sz="1100" b="0">
                <a:solidFill>
                  <a:srgbClr val="3A3A3A"/>
                </a:solidFill>
              </a:defRPr>
            </a:pPr>
            <a:r>
              <a:t>労働市場などの調査を行うシンクタンクに勤務。</a:t>
            </a:r>
          </a:p>
          <a:p>
            <a:pPr algn="l">
              <a:lnSpc>
                <a:spcPts val="1980"/>
              </a:lnSpc>
              <a:defRPr sz="1100" b="0">
                <a:solidFill>
                  <a:srgbClr val="3A3A3A"/>
                </a:solidFill>
              </a:defRPr>
            </a:pPr>
            <a:r>
              <a:t>大手企業の女性活躍推進プログラムで社外メンターを務めた経験を持つ。2児の母。</a:t>
            </a:r>
          </a:p>
          <a:p>
            <a:pPr algn="l">
              <a:lnSpc>
                <a:spcPts val="1980"/>
              </a:lnSpc>
              <a:defRPr sz="1100" b="0">
                <a:solidFill>
                  <a:srgbClr val="3A3A3A"/>
                </a:solidFill>
              </a:defRPr>
            </a:pPr>
          </a:p>
          <a:p>
            <a:pPr algn="l">
              <a:lnSpc>
                <a:spcPts val="1980"/>
              </a:lnSpc>
              <a:defRPr sz="1100" b="0">
                <a:solidFill>
                  <a:srgbClr val="3A3A3A"/>
                </a:solidFill>
              </a:defRPr>
            </a:pPr>
            <a:r>
              <a:t>福井の風土を知り、東京の就活事情も知る立場から、地方の女子学生が</a:t>
            </a:r>
          </a:p>
          <a:p>
            <a:pPr algn="l">
              <a:lnSpc>
                <a:spcPts val="1980"/>
              </a:lnSpc>
              <a:defRPr sz="1100" b="0">
                <a:solidFill>
                  <a:srgbClr val="3A3A3A"/>
                </a:solidFill>
              </a:defRPr>
            </a:pPr>
            <a:r>
              <a:t>「私はこう生きたい」と自分の言葉で語れるようになることを目指しています。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846320"/>
            <a:ext cx="1143000" cy="320040"/>
          </a:xfrm>
          <a:prstGeom prst="rect">
            <a:avLst/>
          </a:prstGeom>
          <a:solidFill>
            <a:srgbClr val="F5E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873752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defRPr sz="800" b="1">
                <a:solidFill>
                  <a:srgbClr val="9A4050"/>
                </a:solidFill>
              </a:defRPr>
            </a:pPr>
            <a:r>
              <a:t>福井出身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94560" y="4846320"/>
            <a:ext cx="1143000" cy="320040"/>
          </a:xfrm>
          <a:prstGeom prst="rect">
            <a:avLst/>
          </a:prstGeom>
          <a:solidFill>
            <a:srgbClr val="F5E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0" y="4873752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defRPr sz="800" b="1">
                <a:solidFill>
                  <a:srgbClr val="9A4050"/>
                </a:solidFill>
              </a:defRPr>
            </a:pPr>
            <a:r>
              <a:t>高志高校卒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0" y="4846320"/>
            <a:ext cx="1143000" cy="320040"/>
          </a:xfrm>
          <a:prstGeom prst="rect">
            <a:avLst/>
          </a:prstGeom>
          <a:solidFill>
            <a:srgbClr val="F5E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4873752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defRPr sz="800" b="1">
                <a:solidFill>
                  <a:srgbClr val="9A4050"/>
                </a:solidFill>
              </a:defRPr>
            </a:pPr>
            <a:r>
              <a:t>シンクタンク勤務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79" y="4846320"/>
            <a:ext cx="1143000" cy="320040"/>
          </a:xfrm>
          <a:prstGeom prst="rect">
            <a:avLst/>
          </a:prstGeom>
          <a:solidFill>
            <a:srgbClr val="F5E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79" y="4873752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defRPr sz="800" b="1">
                <a:solidFill>
                  <a:srgbClr val="9A4050"/>
                </a:solidFill>
              </a:defRPr>
            </a:pPr>
            <a:r>
              <a:t>社外メンター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4846320"/>
            <a:ext cx="1143000" cy="320040"/>
          </a:xfrm>
          <a:prstGeom prst="rect">
            <a:avLst/>
          </a:prstGeom>
          <a:solidFill>
            <a:srgbClr val="F5E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0" y="4873752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defRPr sz="800" b="1">
                <a:solidFill>
                  <a:srgbClr val="9A4050"/>
                </a:solidFill>
              </a:defRPr>
            </a:pPr>
            <a:r>
              <a:t>2児の母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4846320"/>
            <a:ext cx="1143000" cy="320040"/>
          </a:xfrm>
          <a:prstGeom prst="rect">
            <a:avLst/>
          </a:prstGeom>
          <a:solidFill>
            <a:srgbClr val="F5E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0" y="4873752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defRPr sz="800" b="1">
                <a:solidFill>
                  <a:srgbClr val="9A4050"/>
                </a:solidFill>
              </a:defRPr>
            </a:pPr>
            <a:r>
              <a:t>DHU大学院修了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C0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defRPr sz="2000" b="1">
                <a:solidFill>
                  <a:srgbClr val="FFFFFF"/>
                </a:solidFill>
              </a:defRPr>
            </a:pPr>
            <a:r>
              <a:t>ご利用の流れ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371600" cy="320040"/>
          </a:xfrm>
          <a:prstGeom prst="rect">
            <a:avLst/>
          </a:prstGeom>
          <a:solidFill>
            <a:srgbClr val="C0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00"/>
              </a:lnSpc>
              <a:defRPr sz="1000" b="1">
                <a:solidFill>
                  <a:srgbClr val="FFFFFF"/>
                </a:solidFill>
              </a:defRPr>
            </a:pPr>
            <a:r>
              <a:t>STEP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7373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50"/>
              </a:lnSpc>
              <a:defRPr sz="1300" b="1">
                <a:solidFill>
                  <a:srgbClr val="9A4050"/>
                </a:solidFill>
              </a:defRPr>
            </a:pPr>
            <a:r>
              <a:t>無料相談を予約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65176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defRPr sz="1000" b="0">
                <a:solidFill>
                  <a:srgbClr val="3A3A3A"/>
                </a:solidFill>
              </a:defRPr>
            </a:pPr>
            <a:r>
              <a:t>Googleカレンダーから</a:t>
            </a:r>
            <a:br/>
            <a:r>
              <a:t>空き日時を選ぶだけ</a:t>
            </a:r>
            <a:br/>
            <a:r>
              <a:t>（アカウント登録不要）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1828800"/>
            <a:ext cx="27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defRPr sz="2000" b="1">
                <a:solidFill>
                  <a:srgbClr val="C06070"/>
                </a:solidFill>
              </a:defRPr>
            </a:pPr>
            <a:r>
              <a:t>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199" y="1188720"/>
            <a:ext cx="1371600" cy="320040"/>
          </a:xfrm>
          <a:prstGeom prst="rect">
            <a:avLst/>
          </a:prstGeom>
          <a:solidFill>
            <a:srgbClr val="C0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199" y="12070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00"/>
              </a:lnSpc>
              <a:defRPr sz="1000" b="1">
                <a:solidFill>
                  <a:srgbClr val="FFFFFF"/>
                </a:solidFill>
              </a:defRPr>
            </a:pPr>
            <a:r>
              <a:t>STEP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79" y="17373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50"/>
              </a:lnSpc>
              <a:defRPr sz="1300" b="1">
                <a:solidFill>
                  <a:srgbClr val="9A4050"/>
                </a:solidFill>
              </a:defRPr>
            </a:pPr>
            <a:r>
              <a:t>初回面談（無料）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79" y="265176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defRPr sz="1000" b="0">
                <a:solidFill>
                  <a:srgbClr val="3A3A3A"/>
                </a:solidFill>
              </a:defRPr>
            </a:pPr>
            <a:r>
              <a:t>現状をヒアリングし</a:t>
            </a:r>
            <a:br/>
            <a:r>
              <a:t>最適なプランをご提案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828800"/>
            <a:ext cx="27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defRPr sz="2000" b="1">
                <a:solidFill>
                  <a:srgbClr val="C06070"/>
                </a:solidFill>
              </a:defRPr>
            </a:pPr>
            <a:r>
              <a:t>&gt;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759" y="1188720"/>
            <a:ext cx="1371600" cy="320040"/>
          </a:xfrm>
          <a:prstGeom prst="rect">
            <a:avLst/>
          </a:prstGeom>
          <a:solidFill>
            <a:srgbClr val="C0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59" y="12070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00"/>
              </a:lnSpc>
              <a:defRPr sz="1000" b="1">
                <a:solidFill>
                  <a:srgbClr val="FFFFFF"/>
                </a:solidFill>
              </a:defRPr>
            </a:pPr>
            <a:r>
              <a:t>STEP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17373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50"/>
              </a:lnSpc>
              <a:defRPr sz="1300" b="1">
                <a:solidFill>
                  <a:srgbClr val="9A4050"/>
                </a:solidFill>
              </a:defRPr>
            </a:pPr>
            <a:r>
              <a:t>プランを選んで</a:t>
            </a:r>
            <a:br/>
            <a:r>
              <a:t>スタート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65176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defRPr sz="1000" b="0">
                <a:solidFill>
                  <a:srgbClr val="3A3A3A"/>
                </a:solidFill>
              </a:defRPr>
            </a:pPr>
            <a:r>
              <a:t>クレジットカード</a:t>
            </a:r>
            <a:br/>
            <a:r>
              <a:t>Apple Pay / Google Pay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1828800"/>
            <a:ext cx="27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defRPr sz="2000" b="1">
                <a:solidFill>
                  <a:srgbClr val="C06070"/>
                </a:solidFill>
              </a:defRPr>
            </a:pPr>
            <a:r>
              <a:t>&gt;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19" y="1188720"/>
            <a:ext cx="1371600" cy="320040"/>
          </a:xfrm>
          <a:prstGeom prst="rect">
            <a:avLst/>
          </a:prstGeom>
          <a:solidFill>
            <a:srgbClr val="C0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19" y="12070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00"/>
              </a:lnSpc>
              <a:defRPr sz="1000" b="1">
                <a:solidFill>
                  <a:srgbClr val="FFFFFF"/>
                </a:solidFill>
              </a:defRPr>
            </a:pPr>
            <a:r>
              <a:t>STEP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7999" y="17373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50"/>
              </a:lnSpc>
              <a:defRPr sz="1300" b="1">
                <a:solidFill>
                  <a:srgbClr val="9A4050"/>
                </a:solidFill>
              </a:defRPr>
            </a:pPr>
            <a:r>
              <a:t>定期面談で伴走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7999" y="265176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defRPr sz="1000" b="0">
                <a:solidFill>
                  <a:srgbClr val="3A3A3A"/>
                </a:solidFill>
              </a:defRPr>
            </a:pPr>
            <a:r>
              <a:t>一緒に「あなたの言葉」を</a:t>
            </a:r>
            <a:br/>
            <a:r>
              <a:t>見つけていきます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7200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defRPr sz="1200" b="0">
                <a:solidFill>
                  <a:srgbClr val="888888"/>
                </a:solidFill>
              </a:defRPr>
            </a:pPr>
            <a:r>
              <a:t>無理な勧誘は一切しません。まずはお気軽にご相談ください。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0607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200"/>
              </a:lnSpc>
              <a:defRPr sz="2800" b="1">
                <a:solidFill>
                  <a:srgbClr val="FFFFFF"/>
                </a:solidFill>
              </a:defRPr>
            </a:pPr>
            <a:r>
              <a:t>まずは無料で相談してみませんか？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00"/>
              </a:lnSpc>
              <a:defRPr sz="1400" b="0">
                <a:solidFill>
                  <a:srgbClr val="F5D0D5"/>
                </a:solidFill>
              </a:defRPr>
            </a:pPr>
            <a:r>
              <a:t>初回面談は無料です。お気軽にどうぞ。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3474720"/>
            <a:ext cx="6400800" cy="502920"/>
          </a:xfrm>
          <a:prstGeom prst="rect">
            <a:avLst/>
          </a:prstGeom>
          <a:solidFill>
            <a:srgbClr val="9A4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35204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defRPr sz="1100" b="1">
                <a:solidFill>
                  <a:srgbClr val="FFFFFF"/>
                </a:solidFill>
              </a:defRPr>
            </a:pPr>
            <a:r>
              <a:t>LP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3520439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F5D0D5"/>
                </a:solidFill>
              </a:defRPr>
            </a:pPr>
            <a:r>
              <a:t>https://mai-san447.github.io/hanasaku-career/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4114800"/>
            <a:ext cx="6400800" cy="502920"/>
          </a:xfrm>
          <a:prstGeom prst="rect">
            <a:avLst/>
          </a:prstGeom>
          <a:solidFill>
            <a:srgbClr val="9A4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41605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defRPr sz="1100" b="1">
                <a:solidFill>
                  <a:srgbClr val="FFFFFF"/>
                </a:solidFill>
              </a:defRPr>
            </a:pPr>
            <a:r>
              <a:t>無料相談予約（Googleカレンダー）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4160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F5D0D5"/>
                </a:solidFill>
              </a:defRPr>
            </a:pPr>
            <a:r>
              <a:t>https://calendar.app.google/u8SkpMApaMfaRoSx6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4754879"/>
            <a:ext cx="6400800" cy="502920"/>
          </a:xfrm>
          <a:prstGeom prst="rect">
            <a:avLst/>
          </a:prstGeom>
          <a:solidFill>
            <a:srgbClr val="9A4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54480" y="480059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defRPr sz="1100" b="1">
                <a:solidFill>
                  <a:srgbClr val="FFFFFF"/>
                </a:solidFill>
              </a:defRPr>
            </a:pPr>
            <a:r>
              <a:t>LINE公式アカウント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4800599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F5D0D5"/>
                </a:solidFill>
              </a:defRPr>
            </a:pPr>
            <a:r>
              <a:t>https://lin.ee/qURXYyS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00"/>
              </a:lnSpc>
              <a:defRPr sz="1000" b="0">
                <a:solidFill>
                  <a:srgbClr val="E8A0A8"/>
                </a:solidFill>
              </a:defRPr>
            </a:pPr>
            <a:r>
              <a:t>© 2026 ハナサク / EMKO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